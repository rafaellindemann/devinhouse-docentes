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d2feee273954ac1" /><Relationship Type="http://schemas.openxmlformats.org/officeDocument/2006/relationships/extended-properties" Target="/docProps/app.xml" Id="Re29c8161c5bb4c2f" /><Relationship Type="http://schemas.openxmlformats.org/officeDocument/2006/relationships/officeDocument" Target="/ppt/presentation.xml" Id="Re001490ce10840c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b4be790659a4fab"/>
  </p:sldMasterIdLst>
  <p:notesMasterIdLst>
    <p:notesMasterId xmlns:r="http://schemas.openxmlformats.org/officeDocument/2006/relationships" r:id="R2ec6b92114ac4de8"/>
  </p:notesMasterIdLst>
  <p:sldIdLst>
    <p:sldId xmlns:r="http://schemas.openxmlformats.org/officeDocument/2006/relationships" id="256" r:id="R72c7606f452549db"/>
    <p:sldId xmlns:r="http://schemas.openxmlformats.org/officeDocument/2006/relationships" id="257" r:id="Rb1a48c842adf4b1f"/>
    <p:sldId xmlns:r="http://schemas.openxmlformats.org/officeDocument/2006/relationships" id="258" r:id="Rcbeea2909fcd426a"/>
    <p:sldId xmlns:r="http://schemas.openxmlformats.org/officeDocument/2006/relationships" id="259" r:id="R9ad08739b6384b90"/>
    <p:sldId xmlns:r="http://schemas.openxmlformats.org/officeDocument/2006/relationships" id="260" r:id="R8bed4a90e2b047c6"/>
    <p:sldId xmlns:r="http://schemas.openxmlformats.org/officeDocument/2006/relationships" id="261" r:id="R8183f7c4a4974db3"/>
    <p:sldId xmlns:r="http://schemas.openxmlformats.org/officeDocument/2006/relationships" id="262" r:id="R0d79ad335c094081"/>
    <p:sldId xmlns:r="http://schemas.openxmlformats.org/officeDocument/2006/relationships" id="263" r:id="R49c8339c38714411"/>
    <p:sldId xmlns:r="http://schemas.openxmlformats.org/officeDocument/2006/relationships" id="264" r:id="Re081cefa83864565"/>
    <p:sldId xmlns:r="http://schemas.openxmlformats.org/officeDocument/2006/relationships" id="265" r:id="R0b763dede8604acb"/>
    <p:sldId xmlns:r="http://schemas.openxmlformats.org/officeDocument/2006/relationships" id="266" r:id="Re1dda098c88c4c10"/>
    <p:sldId xmlns:r="http://schemas.openxmlformats.org/officeDocument/2006/relationships" id="267" r:id="R36f925a7159b440e"/>
    <p:sldId xmlns:r="http://schemas.openxmlformats.org/officeDocument/2006/relationships" id="268" r:id="R5d1aa3b32741480d"/>
    <p:sldId xmlns:r="http://schemas.openxmlformats.org/officeDocument/2006/relationships" id="269" r:id="Rfd3e33df66ed45d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eb5290e07404de9" /><Relationship Type="http://schemas.openxmlformats.org/officeDocument/2006/relationships/slideMaster" Target="/ppt/slideMasters/slideMaster1.xml" Id="R7b4be790659a4fab" /><Relationship Type="http://schemas.openxmlformats.org/officeDocument/2006/relationships/notesMaster" Target="/ppt/notesMasters/notesMaster1.xml" Id="R2ec6b92114ac4de8" /><Relationship Type="http://schemas.openxmlformats.org/officeDocument/2006/relationships/presProps" Target="/ppt/presProps.xml" Id="R9babbfe772504101" /><Relationship Type="http://schemas.openxmlformats.org/officeDocument/2006/relationships/tableStyles" Target="/ppt/tableStyles.xml" Id="R04a3ca4c8d864c90" /><Relationship Type="http://schemas.openxmlformats.org/officeDocument/2006/relationships/slide" Target="/ppt/slides/slide1.xml" Id="R72c7606f452549db" /><Relationship Type="http://schemas.openxmlformats.org/officeDocument/2006/relationships/slide" Target="/ppt/slides/slide2.xml" Id="Rb1a48c842adf4b1f" /><Relationship Type="http://schemas.openxmlformats.org/officeDocument/2006/relationships/slide" Target="/ppt/slides/slide3.xml" Id="Rcbeea2909fcd426a" /><Relationship Type="http://schemas.openxmlformats.org/officeDocument/2006/relationships/slide" Target="/ppt/slides/slide4.xml" Id="R9ad08739b6384b90" /><Relationship Type="http://schemas.openxmlformats.org/officeDocument/2006/relationships/slide" Target="/ppt/slides/slide5.xml" Id="R8bed4a90e2b047c6" /><Relationship Type="http://schemas.openxmlformats.org/officeDocument/2006/relationships/slide" Target="/ppt/slides/slide6.xml" Id="R8183f7c4a4974db3" /><Relationship Type="http://schemas.openxmlformats.org/officeDocument/2006/relationships/slide" Target="/ppt/slides/slide7.xml" Id="R0d79ad335c094081" /><Relationship Type="http://schemas.openxmlformats.org/officeDocument/2006/relationships/slide" Target="/ppt/slides/slide8.xml" Id="R49c8339c38714411" /><Relationship Type="http://schemas.openxmlformats.org/officeDocument/2006/relationships/slide" Target="/ppt/slides/slide9.xml" Id="Re081cefa83864565" /><Relationship Type="http://schemas.openxmlformats.org/officeDocument/2006/relationships/slide" Target="/ppt/slides/slide10.xml" Id="R0b763dede8604acb" /><Relationship Type="http://schemas.openxmlformats.org/officeDocument/2006/relationships/slide" Target="/ppt/slides/slide11.xml" Id="Re1dda098c88c4c10" /><Relationship Type="http://schemas.openxmlformats.org/officeDocument/2006/relationships/slide" Target="/ppt/slides/slide12.xml" Id="R36f925a7159b440e" /><Relationship Type="http://schemas.openxmlformats.org/officeDocument/2006/relationships/slide" Target="/ppt/slides/slide13.xml" Id="R5d1aa3b32741480d" /><Relationship Type="http://schemas.openxmlformats.org/officeDocument/2006/relationships/slide" Target="/ppt/slides/slide14.xml" Id="Rfd3e33df66ed45d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5b9cc20d2a4444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2ba119501d44b5d" /><Relationship Type="http://schemas.openxmlformats.org/officeDocument/2006/relationships/notesMaster" Target="/ppt/notesMasters/notesMaster1.xml" Id="R3276c3b99ef54a9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861a771a9cc4adc" /><Relationship Type="http://schemas.openxmlformats.org/officeDocument/2006/relationships/notesMaster" Target="/ppt/notesMasters/notesMaster1.xml" Id="Rc523e5f23c52470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7fc3d642dd948ae" /><Relationship Type="http://schemas.openxmlformats.org/officeDocument/2006/relationships/notesMaster" Target="/ppt/notesMasters/notesMaster1.xml" Id="Rbd8254edd20d435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77a89788ee54c01" /><Relationship Type="http://schemas.openxmlformats.org/officeDocument/2006/relationships/notesMaster" Target="/ppt/notesMasters/notesMaster1.xml" Id="Racbf088e60ba412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f651df6b79541ee" /><Relationship Type="http://schemas.openxmlformats.org/officeDocument/2006/relationships/notesMaster" Target="/ppt/notesMasters/notesMaster1.xml" Id="Rec3bac45d7db41d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8d5db13f4914ce4" /><Relationship Type="http://schemas.openxmlformats.org/officeDocument/2006/relationships/notesMaster" Target="/ppt/notesMasters/notesMaster1.xml" Id="R021f237f6d954e1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b8fa49f38c0434a" /><Relationship Type="http://schemas.openxmlformats.org/officeDocument/2006/relationships/notesMaster" Target="/ppt/notesMasters/notesMaster1.xml" Id="R641329505cfb400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e8d359bf9ef4502" /><Relationship Type="http://schemas.openxmlformats.org/officeDocument/2006/relationships/notesMaster" Target="/ppt/notesMasters/notesMaster1.xml" Id="Re6be770af766472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9a75b9e0e104bf0" /><Relationship Type="http://schemas.openxmlformats.org/officeDocument/2006/relationships/notesMaster" Target="/ppt/notesMasters/notesMaster1.xml" Id="Ra019be263eb84d7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b7aae2b1edb4d54" /><Relationship Type="http://schemas.openxmlformats.org/officeDocument/2006/relationships/notesMaster" Target="/ppt/notesMasters/notesMaster1.xml" Id="Rb056b77afd53462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0cb8d6869544935" /><Relationship Type="http://schemas.openxmlformats.org/officeDocument/2006/relationships/notesMaster" Target="/ppt/notesMasters/notesMaster1.xml" Id="R9f9659aeb823458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25f63fd298e49d4" /><Relationship Type="http://schemas.openxmlformats.org/officeDocument/2006/relationships/notesMaster" Target="/ppt/notesMasters/notesMaster1.xml" Id="Re0113a806127407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599e50d10074c39" /><Relationship Type="http://schemas.openxmlformats.org/officeDocument/2006/relationships/notesMaster" Target="/ppt/notesMasters/notesMaster1.xml" Id="R3e7a32e072784ee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8c1e81129d44e4c" /><Relationship Type="http://schemas.openxmlformats.org/officeDocument/2006/relationships/notesMaster" Target="/ppt/notesMasters/notesMaster1.xml" Id="R3a0fa96863194fa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Material elaborado para a Atividade Avaliativa 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 curricular: Itinerário do Curso Técnico em Desenvolvimento de Sistemas Presencial, UC Modelagem de Sistemas, pp. 49–51. Fonte metodológica: Mentoria Pedagógica 2, Estações por Rotação.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 curricular: Itinerário do Curso Técnico em Desenvolvimento de Sistemas Presencial, UC Modelagem de Sistemas, pp. 49–51. Fonte metodológica: Mentoria Pedagógica 2, Estações por Rotação.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 curricular: Itinerário do Curso Técnico em Desenvolvimento de Sistemas Presencial, UC Modelagem de Sistemas, pp. 49–51. Fonte metodológica: Mentoria Pedagógica 2, Estações por Rotação.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 curricular: Itinerário do Curso Técnico em Desenvolvimento de Sistemas Presencial, UC Modelagem de Sistemas, pp. 49–51. Fonte metodológica: Mentoria Pedagógica 2, Estações por Rotação.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 curricular: Itinerário do Curso Técnico em Desenvolvimento de Sistemas Presencial, UC Modelagem de Sistemas, pp. 49–51. Fonte metodológica: Mentoria Pedagógica 2, Estações por Rotação.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 curricular: Itinerário do Curso Técnico em Desenvolvimento de Sistemas Presencial, UC Modelagem de Sistemas, pp. 49–51. Fonte metodológica: Mentoria Pedagógica 2, Estações por Rotação.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 curricular: Itinerário do Curso Técnico em Desenvolvimento de Sistemas Presencial, UC Modelagem de Sistemas, pp. 49–51. Fonte metodológica: Mentoria Pedagógica 2, Estações por Rotação.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 curricular: Itinerário do Curso Técnico em Desenvolvimento de Sistemas Presencial, UC Modelagem de Sistemas, pp. 49–51. Fonte metodológica: Mentoria Pedagógica 2, Estações por Rotação.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 curricular: Itinerário do Curso Técnico em Desenvolvimento de Sistemas Presencial, UC Modelagem de Sistemas, pp. 49–51. Fonte metodológica: Mentoria Pedagógica 2, Estações por Rotação.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 curricular: Itinerário do Curso Técnico em Desenvolvimento de Sistemas Presencial, UC Modelagem de Sistemas, pp. 49–51. Fonte metodológica: Mentoria Pedagógica 2, Estações por Rotação.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 curricular: Itinerário do Curso Técnico em Desenvolvimento de Sistemas Presencial, UC Modelagem de Sistemas, pp. 49–51. Fonte metodológica: Mentoria Pedagógica 2, Estações por Rotação.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 curricular: Itinerário do Curso Técnico em Desenvolvimento de Sistemas Presencial, UC Modelagem de Sistemas, pp. 49–51. Fonte metodológica: Mentoria Pedagógica 2, Estações por Rotação.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 curricular: Itinerário do Curso Técnico em Desenvolvimento de Sistemas Presencial, UC Modelagem de Sistemas, pp. 49–51. Fonte metodológica: Mentoria Pedagógica 2, Estações por Rotação.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f524629a3074b8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c560207e49f4096" /><Relationship Type="http://schemas.openxmlformats.org/officeDocument/2006/relationships/slideLayout" Target="/ppt/slideLayouts/slideLayout1.xml" Id="R6fc6f91be533414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fc6f91be533414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2607888b5b40b0" /><Relationship Type="http://schemas.openxmlformats.org/officeDocument/2006/relationships/notesSlide" Target="/ppt/notesSlides/notesSlide1.xml" Id="R787fb5c5bda74b0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1a62cfd7f8481b" /><Relationship Type="http://schemas.openxmlformats.org/officeDocument/2006/relationships/notesSlide" Target="/ppt/notesSlides/notesSlide2.xml" Id="R6961ee604f4e412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7c13162a144898" /><Relationship Type="http://schemas.openxmlformats.org/officeDocument/2006/relationships/notesSlide" Target="/ppt/notesSlides/notesSlide3.xml" Id="R0745e4badc5f46f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0aa7878a3b4294" /><Relationship Type="http://schemas.openxmlformats.org/officeDocument/2006/relationships/notesSlide" Target="/ppt/notesSlides/notesSlide4.xml" Id="R779bebde0cca450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48cb49264e4007" /><Relationship Type="http://schemas.openxmlformats.org/officeDocument/2006/relationships/notesSlide" Target="/ppt/notesSlides/notesSlide5.xml" Id="R10614c53bedd481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80e7a6e9ab4d32" /><Relationship Type="http://schemas.openxmlformats.org/officeDocument/2006/relationships/notesSlide" Target="/ppt/notesSlides/notesSlide6.xml" Id="R9ab1555a5d984d4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2b5553ae464ab1" /><Relationship Type="http://schemas.openxmlformats.org/officeDocument/2006/relationships/notesSlide" Target="/ppt/notesSlides/notesSlide7.xml" Id="R54c85d00f9ca45d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49c0e5d369442a" /><Relationship Type="http://schemas.openxmlformats.org/officeDocument/2006/relationships/notesSlide" Target="/ppt/notesSlides/notesSlide8.xml" Id="Rbb2c0afd19a64dc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ddec37fa704aa9" /><Relationship Type="http://schemas.openxmlformats.org/officeDocument/2006/relationships/notesSlide" Target="/ppt/notesSlides/notesSlide9.xml" Id="R1d200d82cbad450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2f6da0ecd54458" /><Relationship Type="http://schemas.openxmlformats.org/officeDocument/2006/relationships/notesSlide" Target="/ppt/notesSlides/notesSlide10.xml" Id="Ra3f958179af9466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b38597d0af4fc3" /><Relationship Type="http://schemas.openxmlformats.org/officeDocument/2006/relationships/notesSlide" Target="/ppt/notesSlides/notesSlide11.xml" Id="Ref83591560d9430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021403288f4aef" /><Relationship Type="http://schemas.openxmlformats.org/officeDocument/2006/relationships/notesSlide" Target="/ppt/notesSlides/notesSlide12.xml" Id="R78e2a84f84a8415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bd792fe4e241ae" /><Relationship Type="http://schemas.openxmlformats.org/officeDocument/2006/relationships/notesSlide" Target="/ppt/notesSlides/notesSlide13.xml" Id="R772f58ea48b744c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8cb406d66044cf" /><Relationship Type="http://schemas.openxmlformats.org/officeDocument/2006/relationships/notesSlide" Target="/ppt/notesSlides/notesSlide14.xml" Id="R0b1ee8298cfb479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4E5306-4398-4ED6-85D3-757940326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2A6A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22A6A8"/>
                </a:solidFill>
                <a:latin typeface="Bitstream Charter"/>
                <a:ea typeface="Bitstream Charter"/>
                <a:cs typeface="Bitstream Charter"/>
              </a:rPr>
              <a:t>ATIVIDADE AVALIATIVA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C91389-9469-4803-85FE-AFA3821B0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33500"/>
            <a:ext cx="9906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6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Busca inteligente</a:t>
            </a:r>
          </a:p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6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para um acervo escolar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70B958-EAFD-49A6-82E8-85F846E8B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00375"/>
            <a:ext cx="8001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BCE8E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0">
                <a:solidFill>
                  <a:srgbClr val="BCE8E8"/>
                </a:solidFill>
                <a:latin typeface="Bitstream Charter"/>
                <a:ea typeface="Bitstream Charter"/>
                <a:cs typeface="Bitstream Charter"/>
              </a:rPr>
              <a:t>Banco de dados vetorial e Inteligência Artificial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04EEF5-1D49-41D4-88C0-55BDAAEA9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33875"/>
            <a:ext cx="2476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02A4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1">
                <a:solidFill>
                  <a:srgbClr val="102A43"/>
                </a:solidFill>
                <a:latin typeface="Bitstream Charter"/>
                <a:ea typeface="Bitstream Charter"/>
                <a:cs typeface="Bitstream Charter"/>
              </a:rPr>
              <a:t>Plano de aula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2A061E-B3AC-42CC-AC2E-120826175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333875"/>
            <a:ext cx="3333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6A8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Rotação por Estações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C460B8-E189-4F06-A3FC-9ABA7F9A3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CFD9E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0">
                <a:solidFill>
                  <a:srgbClr val="CFD9E3"/>
                </a:solidFill>
                <a:latin typeface="Bitstream Charter"/>
                <a:ea typeface="Bitstream Charter"/>
                <a:cs typeface="Bitstream Charter"/>
              </a:rPr>
              <a:t>Modelagem de Sistemas   •   Técnico em Desenvolvimento de Sistemas</a:t>
            </a:r>
          </a:p>
        </p:txBody>
      </p:sp>
    </p:spTree>
    <p:extLst>
      <p:ext uri="{BB962C8B-B14F-4D97-AF65-F5344CB8AC3E}">
        <p14:creationId xmlns:p14="http://schemas.microsoft.com/office/powerpoint/2010/main" val="11629166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A89F3B-4E0D-4C28-868C-DDDF16852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670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2A6A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1">
                <a:solidFill>
                  <a:srgbClr val="22A6A8"/>
                </a:solidFill>
                <a:latin typeface="Bitstream Charter"/>
                <a:ea typeface="Bitstream Charter"/>
                <a:cs typeface="Bitstream Charter"/>
              </a:rPr>
              <a:t>CONTEXTO DA AULA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D1AAE6-1E26-4743-BF2E-278CDCF8E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0550"/>
            <a:ext cx="1057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550" b="1">
                <a:solidFill>
                  <a:srgbClr val="102A43"/>
                </a:solidFill>
                <a:latin typeface="Bitstream Charter"/>
                <a:ea typeface="Bitstream Charter"/>
                <a:cs typeface="Bitstream Charter"/>
              </a:rPr>
              <a:t>Situação-problema BuscaSaber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3B0C26-3D4A-4309-858B-EDF443E36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67475"/>
            <a:ext cx="1057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06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0">
                <a:solidFill>
                  <a:srgbClr val="52606D"/>
                </a:solidFill>
                <a:latin typeface="Bitstream Charter"/>
                <a:ea typeface="Bitstream Charter"/>
                <a:cs typeface="Bitstream Charter"/>
              </a:rPr>
              <a:t>Curso Técnico em Desenvolvimento de Sistemas   •   Modelagem de Sistemas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F66F6D-247A-48BD-98C5-978A1DF5C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6747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2606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1">
                <a:solidFill>
                  <a:srgbClr val="52606D"/>
                </a:solidFill>
                <a:latin typeface="Bitstream Charter"/>
                <a:ea typeface="Bitstream Charter"/>
                <a:cs typeface="Bitstream Charter"/>
              </a:rPr>
              <a:t>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DFE14A-0C56-4433-94A8-5F341083C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28750"/>
            <a:ext cx="6572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rPr>
              <a:t>A escola possui apostilas, regulamentos, planos de curso e materiais didáticos digitais. A busca atual depende do nome do arquivo ou de palavras exatas.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02779E-F717-4729-8CC7-CAF2243B3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0"/>
            <a:ext cx="657225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3F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A4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1">
                <a:solidFill>
                  <a:srgbClr val="102A43"/>
                </a:solidFill>
                <a:latin typeface="Bitstream Charter"/>
                <a:ea typeface="Bitstream Charter"/>
                <a:cs typeface="Bitstream Charter"/>
              </a:rPr>
              <a:t>A proposta é modelar um sistema que receba perguntas em linguagem natural e localize trechos semanticamente relacionados.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22717F-E0E2-44ED-B392-013547EDD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428750"/>
            <a:ext cx="3714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Pergunta de exemplo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2FAE08-E95B-4FB7-A04E-7348E28DF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952625"/>
            <a:ext cx="3714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2A4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1">
                <a:solidFill>
                  <a:srgbClr val="102A43"/>
                </a:solidFill>
                <a:latin typeface="Bitstream Charter"/>
                <a:ea typeface="Bitstream Charter"/>
                <a:cs typeface="Bitstream Charter"/>
              </a:rPr>
              <a:t>“Quais materiais explicam modelagem de banco de dados para iniciantes?”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9B9F80-C1D9-4BDB-AF53-2B2C6AD45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714750"/>
            <a:ext cx="3714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rPr>
              <a:t>Os resultados devem apresentar título, trecho e fonte, respeitando as permissões do usuário.</a:t>
            </a:r>
          </a:p>
        </p:txBody>
      </p:sp>
    </p:spTree>
    <p:extLst>
      <p:ext uri="{BB962C8B-B14F-4D97-AF65-F5344CB8AC3E}">
        <p14:creationId xmlns:p14="http://schemas.microsoft.com/office/powerpoint/2010/main" val="62808542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4C821C8-2B69-4EC0-9443-5692A90F8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670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2A6A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1">
                <a:solidFill>
                  <a:srgbClr val="22A6A8"/>
                </a:solidFill>
                <a:latin typeface="Bitstream Charter"/>
                <a:ea typeface="Bitstream Charter"/>
                <a:cs typeface="Bitstream Charter"/>
              </a:rPr>
              <a:t>ALINHAMENTO CURRICULAR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CD211A-B226-4955-AC0D-2B38F3568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0550"/>
            <a:ext cx="1057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550" b="1">
                <a:solidFill>
                  <a:srgbClr val="102A43"/>
                </a:solidFill>
                <a:latin typeface="Bitstream Charter"/>
                <a:ea typeface="Bitstream Charter"/>
                <a:cs typeface="Bitstream Charter"/>
              </a:rPr>
              <a:t>Objetivos e capacidades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A7A2FB-568D-4794-BA27-2279B91C8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67475"/>
            <a:ext cx="1057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06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0">
                <a:solidFill>
                  <a:srgbClr val="52606D"/>
                </a:solidFill>
                <a:latin typeface="Bitstream Charter"/>
                <a:ea typeface="Bitstream Charter"/>
                <a:cs typeface="Bitstream Charter"/>
              </a:rPr>
              <a:t>Curso Técnico em Desenvolvimento de Sistemas   •   Modelagem de Sistemas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E4801F-6B44-4C84-9E07-2BE373ED5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6747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2606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1">
                <a:solidFill>
                  <a:srgbClr val="52606D"/>
                </a:solidFill>
                <a:latin typeface="Bitstream Charter"/>
                <a:ea typeface="Bitstream Charter"/>
                <a:cs typeface="Bitstream Charter"/>
              </a:rPr>
              <a:t>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AE01DF-63EB-4AA4-8E2C-9A1F978DE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81125"/>
            <a:ext cx="4000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Capacidades técnicas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F913DD-1354-4056-A02E-9FA6CD752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76425"/>
            <a:ext cx="228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33531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2A6A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1">
                <a:solidFill>
                  <a:srgbClr val="22A6A8"/>
                </a:solidFill>
                <a:latin typeface="Bitstream Charter"/>
                <a:ea typeface="Bitstream Charter"/>
                <a:cs typeface="Bitstream Charter"/>
              </a:rPr>
              <a:t>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28DF86-FB45-4395-8E01-FDFDFBBF4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76425"/>
            <a:ext cx="4781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rPr>
              <a:t>Modelar requisitos com linguagem de programação.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5BEB9D-129B-4B90-86E5-C79E010E4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14600"/>
            <a:ext cx="228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33531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2A6A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1">
                <a:solidFill>
                  <a:srgbClr val="22A6A8"/>
                </a:solidFill>
                <a:latin typeface="Bitstream Charter"/>
                <a:ea typeface="Bitstream Charter"/>
                <a:cs typeface="Bitstream Charter"/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846A4F-F087-47BC-8C29-D3CFF9D74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14600"/>
            <a:ext cx="4781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rPr>
              <a:t>Identificar requisitos funcionais e não funcionais.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4B3B10-E6B6-4167-9581-9BE982052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52775"/>
            <a:ext cx="228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33531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2A6A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1">
                <a:solidFill>
                  <a:srgbClr val="22A6A8"/>
                </a:solidFill>
                <a:latin typeface="Bitstream Charter"/>
                <a:ea typeface="Bitstream Charter"/>
                <a:cs typeface="Bitstream Charter"/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86D53F-9CBC-4213-9566-D330E5B63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52775"/>
            <a:ext cx="4781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252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rPr>
              <a:t>Reconhecer qualidade, integridade, usabilidade e segurança.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681F85-C9C6-4B11-BCA7-006A90281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381125"/>
            <a:ext cx="5143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Ao final da aula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54C2BF-0123-46E8-A266-E5F20EC64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876425"/>
            <a:ext cx="228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33531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2A6A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1">
                <a:solidFill>
                  <a:srgbClr val="22A6A8"/>
                </a:solidFill>
                <a:latin typeface="Bitstream Charter"/>
                <a:ea typeface="Bitstream Charter"/>
                <a:cs typeface="Bitstream Charter"/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1BE65F-3BD4-4B75-95FD-8F665A4AD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1876425"/>
            <a:ext cx="4686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rPr>
              <a:t>Interpretar necessidades dos usuários.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A41402-A1CD-4C72-AED1-D506D6969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514600"/>
            <a:ext cx="228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33531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2A6A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1">
                <a:solidFill>
                  <a:srgbClr val="22A6A8"/>
                </a:solidFill>
                <a:latin typeface="Bitstream Charter"/>
                <a:ea typeface="Bitstream Charter"/>
                <a:cs typeface="Bitstream Charter"/>
              </a:rPr>
              <a:t>•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4CCCEA-986E-402A-9C22-7B13B6A5F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514600"/>
            <a:ext cx="4686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rPr>
              <a:t>Explicar a finalidade da busca vetorial.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A010BD-363F-4A66-9BF1-56EB9FD84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152775"/>
            <a:ext cx="228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33531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2A6A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1">
                <a:solidFill>
                  <a:srgbClr val="22A6A8"/>
                </a:solidFill>
                <a:latin typeface="Bitstream Charter"/>
                <a:ea typeface="Bitstream Charter"/>
                <a:cs typeface="Bitstream Charter"/>
              </a:rPr>
              <a:t>•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85D3E18-6AB7-46E7-AF36-C9389DB51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152775"/>
            <a:ext cx="4686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rPr>
              <a:t>Justificar uma arquitetura de armazenamento.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772DC6A-F60A-4932-AC8A-0A6CA6BF8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790950"/>
            <a:ext cx="228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33531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2A6A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1">
                <a:solidFill>
                  <a:srgbClr val="22A6A8"/>
                </a:solidFill>
                <a:latin typeface="Bitstream Charter"/>
                <a:ea typeface="Bitstream Charter"/>
                <a:cs typeface="Bitstream Charter"/>
              </a:rPr>
              <a:t>•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1EA91DB-A946-4455-A287-CF1662A72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790950"/>
            <a:ext cx="4686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rPr>
              <a:t>Representar o fluxo por pseudocódigo.</a:t>
            </a:r>
          </a:p>
        </p:txBody>
      </p:sp>
    </p:spTree>
    <p:extLst>
      <p:ext uri="{BB962C8B-B14F-4D97-AF65-F5344CB8AC3E}">
        <p14:creationId xmlns:p14="http://schemas.microsoft.com/office/powerpoint/2010/main" val="120817915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B245FF-F087-4877-815D-AC19AC697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670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2A6A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1">
                <a:solidFill>
                  <a:srgbClr val="22A6A8"/>
                </a:solidFill>
                <a:latin typeface="Bitstream Charter"/>
                <a:ea typeface="Bitstream Charter"/>
                <a:cs typeface="Bitstream Charter"/>
              </a:rPr>
              <a:t>ANTES DA ROTAÇÃO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A1CF19-ECF8-479D-B89A-A500D00B2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0550"/>
            <a:ext cx="1057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550" b="1">
                <a:solidFill>
                  <a:srgbClr val="102A43"/>
                </a:solidFill>
                <a:latin typeface="Bitstream Charter"/>
                <a:ea typeface="Bitstream Charter"/>
                <a:cs typeface="Bitstream Charter"/>
              </a:rPr>
              <a:t>Conceitos necessários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299D78-8FE6-420F-BA5E-9A214F3DB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67475"/>
            <a:ext cx="1057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06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0">
                <a:solidFill>
                  <a:srgbClr val="52606D"/>
                </a:solidFill>
                <a:latin typeface="Bitstream Charter"/>
                <a:ea typeface="Bitstream Charter"/>
                <a:cs typeface="Bitstream Charter"/>
              </a:rPr>
              <a:t>Curso Técnico em Desenvolvimento de Sistemas   •   Modelagem de Sistemas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2EED5C-2B85-4554-BB93-0BA6114B2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6747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2606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1">
                <a:solidFill>
                  <a:srgbClr val="52606D"/>
                </a:solidFill>
                <a:latin typeface="Bitstream Charter"/>
                <a:ea typeface="Bitstream Charter"/>
                <a:cs typeface="Bitstream Charter"/>
              </a:rPr>
              <a:t>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9AEDAA-03A2-48E1-880B-A61DD7A90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28750"/>
            <a:ext cx="495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2A4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1">
                <a:solidFill>
                  <a:srgbClr val="102A43"/>
                </a:solidFill>
                <a:latin typeface="Bitstream Charter"/>
                <a:ea typeface="Bitstream Charter"/>
                <a:cs typeface="Bitstream Charter"/>
              </a:rPr>
              <a:t>Busca por palavra-chave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89EFD1-A0D5-4065-B1C4-4AF962468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00250"/>
            <a:ext cx="4953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rPr>
              <a:t>Localiza correspondências literais. Funciona bem quando o usuário conhece os termos usados no documento.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61F8FA-4D57-4591-A8D3-A185395F3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428750"/>
            <a:ext cx="495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2A4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1">
                <a:solidFill>
                  <a:srgbClr val="102A43"/>
                </a:solidFill>
                <a:latin typeface="Bitstream Charter"/>
                <a:ea typeface="Bitstream Charter"/>
                <a:cs typeface="Bitstream Charter"/>
              </a:rPr>
              <a:t>Busca semântica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566B7C-8DB6-4275-B43A-950290D87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00250"/>
            <a:ext cx="4953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rPr>
              <a:t>Compara significados representados numericamente e pode localizar conteúdos relacionados mesmo com palavras diferentes.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508871-973D-4AB8-8A1E-98DBA9869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571875"/>
            <a:ext cx="495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2A4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1">
                <a:solidFill>
                  <a:srgbClr val="102A43"/>
                </a:solidFill>
                <a:latin typeface="Bitstream Charter"/>
                <a:ea typeface="Bitstream Charter"/>
                <a:cs typeface="Bitstream Charter"/>
              </a:rPr>
              <a:t>Embedding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704CC2-FB8D-484D-A3C9-275C79A50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43375"/>
            <a:ext cx="4953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rPr>
              <a:t>Representação numérica de um texto, usada para calcular similaridade entre a pergunta e os documentos.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626BD6-AD5F-44D2-9F89-50819422C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571875"/>
            <a:ext cx="495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2A4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1">
                <a:solidFill>
                  <a:srgbClr val="102A43"/>
                </a:solidFill>
                <a:latin typeface="Bitstream Charter"/>
                <a:ea typeface="Bitstream Charter"/>
                <a:cs typeface="Bitstream Charter"/>
              </a:rPr>
              <a:t>Banco de dados vetorial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587C91-D487-4E5A-A7FD-CAF180F97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143375"/>
            <a:ext cx="4953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rPr>
              <a:t>Armazena e pesquisa vetores com eficiência. Os arquivos originais e os dados administrativos continuam exigindo armazenamento adequado.</a:t>
            </a:r>
          </a:p>
        </p:txBody>
      </p:sp>
    </p:spTree>
    <p:extLst>
      <p:ext uri="{BB962C8B-B14F-4D97-AF65-F5344CB8AC3E}">
        <p14:creationId xmlns:p14="http://schemas.microsoft.com/office/powerpoint/2010/main" val="112804335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0705B4-34AD-4CF6-9E4A-37E753369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670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2A6A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1">
                <a:solidFill>
                  <a:srgbClr val="22A6A8"/>
                </a:solidFill>
                <a:latin typeface="Bitstream Charter"/>
                <a:ea typeface="Bitstream Charter"/>
                <a:cs typeface="Bitstream Charter"/>
              </a:rPr>
              <a:t>ORIENTAÇÃO À TURMA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73E7A4-E26A-4A1A-94DD-98C5F0284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0550"/>
            <a:ext cx="1057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550" b="1">
                <a:solidFill>
                  <a:srgbClr val="102A43"/>
                </a:solidFill>
                <a:latin typeface="Bitstream Charter"/>
                <a:ea typeface="Bitstream Charter"/>
                <a:cs typeface="Bitstream Charter"/>
              </a:rPr>
              <a:t>Como funcionará a rotação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ABA65F-30B6-4A1F-9F41-88BD4BA02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67475"/>
            <a:ext cx="1057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06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0">
                <a:solidFill>
                  <a:srgbClr val="52606D"/>
                </a:solidFill>
                <a:latin typeface="Bitstream Charter"/>
                <a:ea typeface="Bitstream Charter"/>
                <a:cs typeface="Bitstream Charter"/>
              </a:rPr>
              <a:t>Curso Técnico em Desenvolvimento de Sistemas   •   Modelagem de Sistemas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B173E3-614C-42FD-B51D-CB7211FC4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6747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2606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1">
                <a:solidFill>
                  <a:srgbClr val="52606D"/>
                </a:solidFill>
                <a:latin typeface="Bitstream Charter"/>
                <a:ea typeface="Bitstream Charter"/>
                <a:cs typeface="Bitstream Charter"/>
              </a:rPr>
              <a:t>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82D3AC-7744-4B30-AD2A-4118511A1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476375"/>
            <a:ext cx="228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30952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2A6A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22A6A8"/>
                </a:solidFill>
                <a:latin typeface="Bitstream Charter"/>
                <a:ea typeface="Bitstream Charter"/>
                <a:cs typeface="Bitstream Charter"/>
              </a:rPr>
              <a:t>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508262-716B-4644-800A-6205783F0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1476375"/>
            <a:ext cx="9734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rPr>
              <a:t>Formem equipes de quatro ou cinco integrantes.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BE5F93-D6A4-4E5D-B116-F772925B3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200275"/>
            <a:ext cx="228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30952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2A6A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22A6A8"/>
                </a:solidFill>
                <a:latin typeface="Bitstream Charter"/>
                <a:ea typeface="Bitstream Charter"/>
                <a:cs typeface="Bitstream Charter"/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059688-7603-45B8-A01C-FCF0035D5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2200275"/>
            <a:ext cx="9734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rPr>
              <a:t>Distribuam os papéis de gestão do tempo, análise, revisão, registro e apresentação.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4A1672-556E-4F3D-AE33-870C94009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924175"/>
            <a:ext cx="228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30952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2A6A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22A6A8"/>
                </a:solidFill>
                <a:latin typeface="Bitstream Charter"/>
                <a:ea typeface="Bitstream Charter"/>
                <a:cs typeface="Bitstream Charter"/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169EE2-A4F4-472A-9E73-5FBE9A323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2924175"/>
            <a:ext cx="9734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rPr>
              <a:t>Permaneçam 30 minutos em cada estação.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1622B8-121C-4989-AD00-B7C665FCD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648075"/>
            <a:ext cx="228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30952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2A6A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22A6A8"/>
                </a:solidFill>
                <a:latin typeface="Bitstream Charter"/>
                <a:ea typeface="Bitstream Charter"/>
                <a:cs typeface="Bitstream Charter"/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C5763B-7C77-4893-9469-E5D3CCFA1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3648075"/>
            <a:ext cx="9734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rPr>
              <a:t>Publiquem a evidência antes do sinal e avancem em sentido crescente.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267327-F240-4D4E-854F-6C4711390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371975"/>
            <a:ext cx="228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30952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2A6A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22A6A8"/>
                </a:solidFill>
                <a:latin typeface="Bitstream Charter"/>
                <a:ea typeface="Bitstream Charter"/>
                <a:cs typeface="Bitstream Charter"/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AE2A20-07D7-45A5-93C3-437D7CB8B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371975"/>
            <a:ext cx="9734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rPr>
              <a:t>Todas as estações usam o mesmo briefing e podem ser realizadas em qualquer ordem.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34F03C-F8AD-4794-91E8-CDE6D3DBD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476875"/>
            <a:ext cx="10001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3F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02A4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1">
                <a:solidFill>
                  <a:srgbClr val="102A43"/>
                </a:solidFill>
                <a:latin typeface="Bitstream Charter"/>
                <a:ea typeface="Bitstream Charter"/>
                <a:cs typeface="Bitstream Charter"/>
              </a:rPr>
              <a:t>Ao final, reuniremos as cinco evidências em uma proposta única para o BuscaSaber.</a:t>
            </a:r>
          </a:p>
        </p:txBody>
      </p:sp>
    </p:spTree>
    <p:extLst>
      <p:ext uri="{BB962C8B-B14F-4D97-AF65-F5344CB8AC3E}">
        <p14:creationId xmlns:p14="http://schemas.microsoft.com/office/powerpoint/2010/main" val="47606583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E47C2CD-47FA-4FF3-A3EA-255A2968C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670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2A6A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1">
                <a:solidFill>
                  <a:srgbClr val="22A6A8"/>
                </a:solidFill>
                <a:latin typeface="Bitstream Charter"/>
                <a:ea typeface="Bitstream Charter"/>
                <a:cs typeface="Bitstream Charter"/>
              </a:rPr>
              <a:t>CINCO ESTAÇÕES INDEPENDENTES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95EE34-64F2-41E3-A9F0-E391D96A5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0550"/>
            <a:ext cx="1057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550" b="1">
                <a:solidFill>
                  <a:srgbClr val="102A43"/>
                </a:solidFill>
                <a:latin typeface="Bitstream Charter"/>
                <a:ea typeface="Bitstream Charter"/>
                <a:cs typeface="Bitstream Charter"/>
              </a:rPr>
              <a:t>Roteiro da prática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8DD97A-EE27-43DE-BABB-B9CFE7143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67475"/>
            <a:ext cx="1057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06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0">
                <a:solidFill>
                  <a:srgbClr val="52606D"/>
                </a:solidFill>
                <a:latin typeface="Bitstream Charter"/>
                <a:ea typeface="Bitstream Charter"/>
                <a:cs typeface="Bitstream Charter"/>
              </a:rPr>
              <a:t>Curso Técnico em Desenvolvimento de Sistemas   •   Modelagem de Sistemas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0696B3-5A67-4BC1-ABA3-631F07D98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6747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2606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1">
                <a:solidFill>
                  <a:srgbClr val="52606D"/>
                </a:solidFill>
                <a:latin typeface="Bitstream Charter"/>
                <a:ea typeface="Bitstream Charter"/>
                <a:cs typeface="Bitstream Charter"/>
              </a:rPr>
              <a:t>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5A7576-5008-4D82-A7A5-69BE994E2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287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6A8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C2F286-564F-405D-8477-1FD909F85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428750"/>
            <a:ext cx="657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A4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1">
                <a:solidFill>
                  <a:srgbClr val="102A43"/>
                </a:solidFill>
                <a:latin typeface="Bitstream Charter"/>
                <a:ea typeface="Bitstream Charter"/>
                <a:cs typeface="Bitstream Charter"/>
              </a:rPr>
              <a:t>Usuários e necessidades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C3B7E9-B476-4CFA-8406-055D3CAF3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428750"/>
            <a:ext cx="238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425" b="1">
                <a:solidFill>
                  <a:srgbClr val="52606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1">
                <a:solidFill>
                  <a:srgbClr val="52606D"/>
                </a:solidFill>
                <a:latin typeface="Bitstream Charter"/>
                <a:ea typeface="Bitstream Charter"/>
                <a:cs typeface="Bitstream Charter"/>
              </a:rPr>
              <a:t>30 minutos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D3AC8B-2CDA-4A97-B6D5-B4CA78446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2410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6A8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D7565B-B1F4-45CB-B02D-BB96BBC14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324100"/>
            <a:ext cx="657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A4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1">
                <a:solidFill>
                  <a:srgbClr val="102A43"/>
                </a:solidFill>
                <a:latin typeface="Bitstream Charter"/>
                <a:ea typeface="Bitstream Charter"/>
                <a:cs typeface="Bitstream Charter"/>
              </a:rPr>
              <a:t>Catálogo de requisitos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869BA6-0394-49E0-9456-782FE4BCC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324100"/>
            <a:ext cx="238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425" b="1">
                <a:solidFill>
                  <a:srgbClr val="52606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1">
                <a:solidFill>
                  <a:srgbClr val="52606D"/>
                </a:solidFill>
                <a:latin typeface="Bitstream Charter"/>
                <a:ea typeface="Bitstream Charter"/>
                <a:cs typeface="Bitstream Charter"/>
              </a:rPr>
              <a:t>30 minutos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EF7934-F124-44FB-9090-F3C66A56C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194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47686B-3090-48FA-BDC9-7DCD4E93D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219450"/>
            <a:ext cx="657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A4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1">
                <a:solidFill>
                  <a:srgbClr val="102A43"/>
                </a:solidFill>
                <a:latin typeface="Bitstream Charter"/>
                <a:ea typeface="Bitstream Charter"/>
                <a:cs typeface="Bitstream Charter"/>
              </a:rPr>
              <a:t>Busca textual e vetorial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DB0B4B-9CF3-4BFC-8CEF-66DE66A02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219450"/>
            <a:ext cx="238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425" b="1">
                <a:solidFill>
                  <a:srgbClr val="52606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1">
                <a:solidFill>
                  <a:srgbClr val="52606D"/>
                </a:solidFill>
                <a:latin typeface="Bitstream Charter"/>
                <a:ea typeface="Bitstream Charter"/>
                <a:cs typeface="Bitstream Charter"/>
              </a:rPr>
              <a:t>30 minutos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004859-067B-481B-94AE-33F5ED5AB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1480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6A8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44A35A-FD95-4FCD-9DE3-8F5392CCC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114800"/>
            <a:ext cx="657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A4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1">
                <a:solidFill>
                  <a:srgbClr val="102A43"/>
                </a:solidFill>
                <a:latin typeface="Bitstream Charter"/>
                <a:ea typeface="Bitstream Charter"/>
                <a:cs typeface="Bitstream Charter"/>
              </a:rPr>
              <a:t>Qualidade e segurança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0A7BFC-DE5F-4F31-93C7-DF84C7D35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114800"/>
            <a:ext cx="238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425" b="1">
                <a:solidFill>
                  <a:srgbClr val="52606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1">
                <a:solidFill>
                  <a:srgbClr val="52606D"/>
                </a:solidFill>
                <a:latin typeface="Bitstream Charter"/>
                <a:ea typeface="Bitstream Charter"/>
                <a:cs typeface="Bitstream Charter"/>
              </a:rPr>
              <a:t>30 minutos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D73772E-0571-4F2F-B576-162621016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101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6A8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53F8A09-1783-4A5E-B5F3-E28F80FF8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010150"/>
            <a:ext cx="657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A4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1">
                <a:solidFill>
                  <a:srgbClr val="102A43"/>
                </a:solidFill>
                <a:latin typeface="Bitstream Charter"/>
                <a:ea typeface="Bitstream Charter"/>
                <a:cs typeface="Bitstream Charter"/>
              </a:rPr>
              <a:t>Fluxo da busca inteligente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77CE7C0-D820-48D6-AF9D-2B4B8DF15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010150"/>
            <a:ext cx="238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425" b="1">
                <a:solidFill>
                  <a:srgbClr val="52606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1">
                <a:solidFill>
                  <a:srgbClr val="52606D"/>
                </a:solidFill>
                <a:latin typeface="Bitstream Charter"/>
                <a:ea typeface="Bitstream Charter"/>
                <a:cs typeface="Bitstream Charter"/>
              </a:rPr>
              <a:t>30 minutos</a:t>
            </a:r>
          </a:p>
        </p:txBody>
      </p:sp>
    </p:spTree>
    <p:extLst>
      <p:ext uri="{BB962C8B-B14F-4D97-AF65-F5344CB8AC3E}">
        <p14:creationId xmlns:p14="http://schemas.microsoft.com/office/powerpoint/2010/main" val="22828995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46CC357-215F-406B-A47C-A0D081DA3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670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2A6A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1">
                <a:solidFill>
                  <a:srgbClr val="22A6A8"/>
                </a:solidFill>
                <a:latin typeface="Bitstream Charter"/>
                <a:ea typeface="Bitstream Charter"/>
                <a:cs typeface="Bitstream Charter"/>
              </a:rPr>
              <a:t>GUIA DA ESTAÇÃO   •   30 MINUTOS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5BF5B3-059E-4FCF-818C-904287145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0550"/>
            <a:ext cx="1057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550" b="1">
                <a:solidFill>
                  <a:srgbClr val="102A43"/>
                </a:solidFill>
                <a:latin typeface="Bitstream Charter"/>
                <a:ea typeface="Bitstream Charter"/>
                <a:cs typeface="Bitstream Charter"/>
              </a:rPr>
              <a:t>Estação 1 Usuários e necessidades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511B12-36E4-4A2C-B837-47E9429B9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67475"/>
            <a:ext cx="1057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06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0">
                <a:solidFill>
                  <a:srgbClr val="52606D"/>
                </a:solidFill>
                <a:latin typeface="Bitstream Charter"/>
                <a:ea typeface="Bitstream Charter"/>
                <a:cs typeface="Bitstream Charter"/>
              </a:rPr>
              <a:t>Curso Técnico em Desenvolvimento de Sistemas   •   Modelagem de Sistemas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96A284-7DBA-4234-8FA0-6239C89D5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6747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2606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1">
                <a:solidFill>
                  <a:srgbClr val="52606D"/>
                </a:solidFill>
                <a:latin typeface="Bitstream Charter"/>
                <a:ea typeface="Bitstream Charter"/>
                <a:cs typeface="Bitstream Charter"/>
              </a:rPr>
              <a:t>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946518-2B83-40F7-8AF0-E251347F8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33500"/>
            <a:ext cx="1190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Objetivo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87665F-B6E6-4598-9A4F-9194E12A3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1333500"/>
            <a:ext cx="952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rPr>
              <a:t>Interpretar o briefing e reconhecer usuários, necessidades e regras de negócio.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1554CE-8DB9-4F0E-AC51-036C63C63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66900"/>
            <a:ext cx="1190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Desafio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C14B52-981B-444B-95E4-12D158D2B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1866900"/>
            <a:ext cx="952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rPr>
              <a:t>Compreender o problema antes de propor a solução.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42092B-201E-43DC-AAB1-3E6E15515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76500"/>
            <a:ext cx="18573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Passo a passo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2DA50B-BDAF-4C62-B784-853DA031F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14650"/>
            <a:ext cx="304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6A8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0BC5FA-0F57-48F6-9B44-64AF0BC2B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867025"/>
            <a:ext cx="590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rPr>
              <a:t>Identifique os perfis de usuário.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A0390D-81E2-461D-86AA-8757CD159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62325"/>
            <a:ext cx="304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6A8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957485-5D88-421F-8ADA-5B5DE0D51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314700"/>
            <a:ext cx="590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rPr>
              <a:t>Registre duas necessidades de cada perfil.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1E5FB3-63E7-465A-BC7F-1686A2FD7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304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6A8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5305AF-BB5A-43F3-9943-F0821C7A5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62375"/>
            <a:ext cx="590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rPr>
              <a:t>Crie três histórias de usuário.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77A7BE-1C4B-49EA-A5F1-44A7F9FF6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57675"/>
            <a:ext cx="304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6A8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7BE541-644E-47E2-84B1-628FAF5A9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10050"/>
            <a:ext cx="590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rPr>
              <a:t>Elabore quatro regras de negócio.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889B85D-A34B-4DDC-B7A7-42A64BCED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05350"/>
            <a:ext cx="304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6A8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5A022BB-BB68-4B3C-B76B-16B73281A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657725"/>
            <a:ext cx="590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rPr>
              <a:t>Revise e publique a produção.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93938E7-B3F9-4DAF-9A84-E764825C3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476500"/>
            <a:ext cx="1619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Evidência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55052AA-8D21-49AE-A71E-DC5CE16AE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914650"/>
            <a:ext cx="39052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3F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1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rPr>
              <a:t>Quadro com perfis, necessidades, histórias de usuário e regras de negócio.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B92C9AC-C048-41F2-AF49-245D5DBF2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038600"/>
            <a:ext cx="1619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Recursos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34B77BC-9194-4E09-A62B-BBEABBE73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476750"/>
            <a:ext cx="3905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rPr>
              <a:t>Briefing BuscaSaber, modelo de quadro, editor de texto e plataforma de registro.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3CA8D55-A4A2-4A7A-9D29-EC6866A8A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676900"/>
            <a:ext cx="3905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59E0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1">
                <a:solidFill>
                  <a:srgbClr val="F59E0B"/>
                </a:solidFill>
                <a:latin typeface="Bitstream Charter"/>
                <a:ea typeface="Bitstream Charter"/>
                <a:cs typeface="Bitstream Charter"/>
              </a:rPr>
              <a:t>Publique antes do sinal de troca.</a:t>
            </a:r>
          </a:p>
        </p:txBody>
      </p:sp>
    </p:spTree>
    <p:extLst>
      <p:ext uri="{BB962C8B-B14F-4D97-AF65-F5344CB8AC3E}">
        <p14:creationId xmlns:p14="http://schemas.microsoft.com/office/powerpoint/2010/main" val="168875517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66D103A-F1BF-4594-86B5-4C346CA36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670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2A6A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1">
                <a:solidFill>
                  <a:srgbClr val="22A6A8"/>
                </a:solidFill>
                <a:latin typeface="Bitstream Charter"/>
                <a:ea typeface="Bitstream Charter"/>
                <a:cs typeface="Bitstream Charter"/>
              </a:rPr>
              <a:t>GUIA DA ESTAÇÃO   •   30 MINUTOS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920E30-D4B7-4C12-BB65-D978A2879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0550"/>
            <a:ext cx="1057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550" b="1">
                <a:solidFill>
                  <a:srgbClr val="102A43"/>
                </a:solidFill>
                <a:latin typeface="Bitstream Charter"/>
                <a:ea typeface="Bitstream Charter"/>
                <a:cs typeface="Bitstream Charter"/>
              </a:rPr>
              <a:t>Estação 2 Catálogo de requisitos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9D6D32-5EF4-47A0-A83D-422076AEC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67475"/>
            <a:ext cx="1057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06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0">
                <a:solidFill>
                  <a:srgbClr val="52606D"/>
                </a:solidFill>
                <a:latin typeface="Bitstream Charter"/>
                <a:ea typeface="Bitstream Charter"/>
                <a:cs typeface="Bitstream Charter"/>
              </a:rPr>
              <a:t>Curso Técnico em Desenvolvimento de Sistemas   •   Modelagem de Sistemas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E41024-08C5-47A5-912C-5ED1CD81D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6747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2606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1">
                <a:solidFill>
                  <a:srgbClr val="52606D"/>
                </a:solidFill>
                <a:latin typeface="Bitstream Charter"/>
                <a:ea typeface="Bitstream Charter"/>
                <a:cs typeface="Bitstream Charter"/>
              </a:rPr>
              <a:t>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CC06AF-48B2-400F-B201-A13DFB3F5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33500"/>
            <a:ext cx="1190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Objetivo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52274A-40D9-4E6E-BA25-D08D53EAE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1333500"/>
            <a:ext cx="952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rPr>
              <a:t>Diferenciar requisitos funcionais e não funcionais e redigi-los de forma verificável.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5131D5-7A94-4451-9AC8-AF93B7500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66900"/>
            <a:ext cx="1190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Desafio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359D20-CC6D-4869-A6A1-C72F00618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1866900"/>
            <a:ext cx="952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rPr>
              <a:t>Revisar requisitos incompletos e ambíguos.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0F0453-C33C-4CBF-8A76-F891C3D5B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76500"/>
            <a:ext cx="18573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Passo a passo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2BF55E-9860-4C5D-AFE4-138564611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14650"/>
            <a:ext cx="304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6A8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DBCCB6-EDB7-4EF4-A8BA-29ACC248D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867025"/>
            <a:ext cx="590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rPr>
              <a:t>Classifique os cartões recebidos.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591C8F-247C-4EED-ACD3-6404467BE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62325"/>
            <a:ext cx="304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6A8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0B374F-8CF0-4A8F-B51F-4FAF78CD7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314700"/>
            <a:ext cx="590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rPr>
              <a:t>Corrija enunciados ambíguos.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4D8E0B-2E90-486F-92D7-A8FA90BC2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304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6A8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EB8AC8-4779-438C-AADA-22AA42F3F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62375"/>
            <a:ext cx="590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rPr>
              <a:t>Registre seis RF e quatro RNF.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CF876A8-6BBC-4C27-9A80-5F08618CC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57675"/>
            <a:ext cx="304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6A8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3FE0110-A404-4B12-BB85-171EB192A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10050"/>
            <a:ext cx="590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rPr>
              <a:t>Codifique cada requisito.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66F31B4-3C84-4B9F-9160-F6DDEE8AE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05350"/>
            <a:ext cx="304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6A8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1425BB9-A13D-4897-B229-1B5441C33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657725"/>
            <a:ext cx="590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rPr>
              <a:t>Crie critérios de aceitação para dois RF.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9680837-2AB7-4B38-B0EC-B3AF8166F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476500"/>
            <a:ext cx="1619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Evidência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7E83A8A-7895-4C91-9A7B-79EABF35A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914650"/>
            <a:ext cx="39052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3F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1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rPr>
              <a:t>Catálogo com código, tipo, descrição e critérios de aceitação.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180D969-92A2-4B76-8D6A-D872E9A1F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038600"/>
            <a:ext cx="1619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Recursos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0B26F36-4BD3-40D0-A87B-F31D58B88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476750"/>
            <a:ext cx="3905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rPr>
              <a:t>Cartões de requisitos, modelo de catálogo, editor de texto e plataforma de registro.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759A763-5A4C-4B29-82B1-910DBB77D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676900"/>
            <a:ext cx="3905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59E0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1">
                <a:solidFill>
                  <a:srgbClr val="F59E0B"/>
                </a:solidFill>
                <a:latin typeface="Bitstream Charter"/>
                <a:ea typeface="Bitstream Charter"/>
                <a:cs typeface="Bitstream Charter"/>
              </a:rPr>
              <a:t>Publique antes do sinal de troca.</a:t>
            </a:r>
          </a:p>
        </p:txBody>
      </p:sp>
    </p:spTree>
    <p:extLst>
      <p:ext uri="{BB962C8B-B14F-4D97-AF65-F5344CB8AC3E}">
        <p14:creationId xmlns:p14="http://schemas.microsoft.com/office/powerpoint/2010/main" val="81840273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D06DCB4-BAEB-4E7B-AFE4-92CDC9A8B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670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2A6A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1">
                <a:solidFill>
                  <a:srgbClr val="22A6A8"/>
                </a:solidFill>
                <a:latin typeface="Bitstream Charter"/>
                <a:ea typeface="Bitstream Charter"/>
                <a:cs typeface="Bitstream Charter"/>
              </a:rPr>
              <a:t>GUIA DA ESTAÇÃO   •   30 MINUTOS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E53086-F0BC-4392-897A-FC4B27ADE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0550"/>
            <a:ext cx="1057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550" b="1">
                <a:solidFill>
                  <a:srgbClr val="102A43"/>
                </a:solidFill>
                <a:latin typeface="Bitstream Charter"/>
                <a:ea typeface="Bitstream Charter"/>
                <a:cs typeface="Bitstream Charter"/>
              </a:rPr>
              <a:t>Estação 3 Busca textual e vetorial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6FD8E6-C0CE-4DA2-B4C8-407A554EE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67475"/>
            <a:ext cx="1057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06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0">
                <a:solidFill>
                  <a:srgbClr val="52606D"/>
                </a:solidFill>
                <a:latin typeface="Bitstream Charter"/>
                <a:ea typeface="Bitstream Charter"/>
                <a:cs typeface="Bitstream Charter"/>
              </a:rPr>
              <a:t>Curso Técnico em Desenvolvimento de Sistemas   •   Modelagem de Sistemas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82ABA0-F1A1-40C4-85F8-C639DD7F1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6747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2606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1">
                <a:solidFill>
                  <a:srgbClr val="52606D"/>
                </a:solidFill>
                <a:latin typeface="Bitstream Charter"/>
                <a:ea typeface="Bitstream Charter"/>
                <a:cs typeface="Bitstream Charter"/>
              </a:rPr>
              <a:t>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7055A4-867C-4FE0-AB8E-47E8BA42D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33500"/>
            <a:ext cx="1190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Objetivo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12A1A7-681C-4A6B-A0A7-5483454AE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1333500"/>
            <a:ext cx="952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rPr>
              <a:t>Comparar busca tradicional e busca semântica e justificar uma arquitetura.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81A51F-D42B-4C6B-BA46-657F47127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66900"/>
            <a:ext cx="1190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Desafio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037A59-A597-4D2C-9E65-DD4FA073C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1866900"/>
            <a:ext cx="952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rPr>
              <a:t>Escolher como armazenar e recuperar as informações do BuscaSaber.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236378-C515-41FC-9348-34F5286C9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76500"/>
            <a:ext cx="18573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Passo a passo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50C11F-4609-4EC1-AE8C-2E16F2060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14650"/>
            <a:ext cx="304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6A8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99AC10-8FA7-4566-8E4E-1C55EA54D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867025"/>
            <a:ext cx="590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rPr>
              <a:t>Analise os exemplos de pesquisas.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44D13A-ADAB-41CB-88B0-CCDF02762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62325"/>
            <a:ext cx="304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6A8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577696-E95D-41F4-8B50-ECAA941A0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314700"/>
            <a:ext cx="590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rPr>
              <a:t>Compare palavras exatas e significado.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0305A8-1BC7-475C-B2C7-A8A00820D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304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6A8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B32CEC-CFEC-45C8-9891-484713A22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62375"/>
            <a:ext cx="590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rPr>
              <a:t>Relacione embeddings à busca.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E8CCE15-EE74-421F-B050-F74884031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57675"/>
            <a:ext cx="304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6A8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C79E060-4C87-4B7A-B100-5AF25A95C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10050"/>
            <a:ext cx="590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rPr>
              <a:t>Separe dados, documentos e vetores.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FFED91C-08E4-4F4F-96AE-423891CC1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05350"/>
            <a:ext cx="304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6A8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F6EB4C6-43D1-4DF2-BF14-9EB7C03F3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657725"/>
            <a:ext cx="590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rPr>
              <a:t>Registre e justifique a arquitetura.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EE6D50A-B3B1-4998-84D5-CC0EA6DC7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476500"/>
            <a:ext cx="1619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Evidência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340315E-9893-4D10-9D4A-15E43B1A7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914650"/>
            <a:ext cx="39052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3F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1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rPr>
              <a:t>Quadro com tipo de dado, armazenamento, mecanismo de busca e justificativa.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9F5A541-DFCA-4D78-8188-D0A14869E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038600"/>
            <a:ext cx="1619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Recursos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0929C4F-50AD-45C6-8D72-E967016A4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476750"/>
            <a:ext cx="3905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rPr>
              <a:t>Exemplos de consultas, cartões de dados, texto sobre embeddings e plataforma de registro.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406CAE7-4533-4DC7-B744-289FA756D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676900"/>
            <a:ext cx="3905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59E0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1">
                <a:solidFill>
                  <a:srgbClr val="F59E0B"/>
                </a:solidFill>
                <a:latin typeface="Bitstream Charter"/>
                <a:ea typeface="Bitstream Charter"/>
                <a:cs typeface="Bitstream Charter"/>
              </a:rPr>
              <a:t>Publique antes do sinal de troca.</a:t>
            </a:r>
          </a:p>
        </p:txBody>
      </p:sp>
    </p:spTree>
    <p:extLst>
      <p:ext uri="{BB962C8B-B14F-4D97-AF65-F5344CB8AC3E}">
        <p14:creationId xmlns:p14="http://schemas.microsoft.com/office/powerpoint/2010/main" val="43734620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168AA00-A3AA-4004-9FCC-E578A9E02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670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2A6A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1">
                <a:solidFill>
                  <a:srgbClr val="22A6A8"/>
                </a:solidFill>
                <a:latin typeface="Bitstream Charter"/>
                <a:ea typeface="Bitstream Charter"/>
                <a:cs typeface="Bitstream Charter"/>
              </a:rPr>
              <a:t>GUIA DA ESTAÇÃO   •   30 MINUTOS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35428D-DE6D-4F67-9A80-F1DF80F70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0550"/>
            <a:ext cx="1057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550" b="1">
                <a:solidFill>
                  <a:srgbClr val="102A43"/>
                </a:solidFill>
                <a:latin typeface="Bitstream Charter"/>
                <a:ea typeface="Bitstream Charter"/>
                <a:cs typeface="Bitstream Charter"/>
              </a:rPr>
              <a:t>Estação 4 Qualidade e segurança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85798E-5A6C-41E1-873B-47777968B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67475"/>
            <a:ext cx="1057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06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0">
                <a:solidFill>
                  <a:srgbClr val="52606D"/>
                </a:solidFill>
                <a:latin typeface="Bitstream Charter"/>
                <a:ea typeface="Bitstream Charter"/>
                <a:cs typeface="Bitstream Charter"/>
              </a:rPr>
              <a:t>Curso Técnico em Desenvolvimento de Sistemas   •   Modelagem de Sistemas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093250-94A1-4678-9E1B-EFB406967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6747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2606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1">
                <a:solidFill>
                  <a:srgbClr val="52606D"/>
                </a:solidFill>
                <a:latin typeface="Bitstream Charter"/>
                <a:ea typeface="Bitstream Charter"/>
                <a:cs typeface="Bitstream Charter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819B93-854E-4A2F-B922-86A2EA433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33500"/>
            <a:ext cx="1190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Objetivo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95DAE6-AEB2-470F-AB99-8F0189A56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1333500"/>
            <a:ext cx="952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rPr>
              <a:t>Identificar riscos e convertê-los em requisitos não funcionais verificáveis.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A0FDA0-9487-4948-9735-8AF8DB901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66900"/>
            <a:ext cx="1190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Desafio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A92185-CADC-434A-802C-E273284B1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1866900"/>
            <a:ext cx="952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rPr>
              <a:t>Fortalecer uma especificação com riscos de acesso e respostas sem fonte.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E44946-5CD7-4595-96B7-EC543AC49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76500"/>
            <a:ext cx="18573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Passo a passo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CCF60D-9C5C-45A9-861A-614D90925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14650"/>
            <a:ext cx="304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6A8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F0553C-FB92-4867-9100-FF8D35CBA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867025"/>
            <a:ext cx="590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rPr>
              <a:t>Classifique os cenários de risco.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F5ED8D-9EF2-48AE-A39C-489862B01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62325"/>
            <a:ext cx="304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6A8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AD2DDD-8F8C-4912-BDFB-8A68023A2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314700"/>
            <a:ext cx="590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rPr>
              <a:t>Avalie impacto e probabilidade.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F93012-71BA-4F42-BC40-E5EFE5A84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304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6A8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C34CDB-7D03-45FD-B6F8-E22BD1E2D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62375"/>
            <a:ext cx="590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rPr>
              <a:t>Proponha um requisito por categoria.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2DD5A0-C45E-4472-B293-FE0E115AD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57675"/>
            <a:ext cx="304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6A8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5538D25-6AD8-4B13-AEC0-F6499FFCE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10050"/>
            <a:ext cx="590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rPr>
              <a:t>Defina como cada requisito será testado.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46F4CF2-69EC-4C7F-96DA-3F0704002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05350"/>
            <a:ext cx="304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6A8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C43389B-E655-4BF9-9819-F986329C5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657725"/>
            <a:ext cx="590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rPr>
              <a:t>Revise e publique a matriz.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FBD8AEC-FC4D-42EF-8FF5-B22C8508B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476500"/>
            <a:ext cx="1619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Evidência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D62ABE6-9216-41E3-B8E8-3652533F9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914650"/>
            <a:ext cx="39052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3F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1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rPr>
              <a:t>Matriz com risco, impacto, requisito preventivo e forma de verificação.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98FAD28-D2BF-415B-9C01-EC2666C41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038600"/>
            <a:ext cx="1619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Recursos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ECC12A0-F61E-4F19-9790-75FF812E9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476750"/>
            <a:ext cx="3905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rPr>
              <a:t>Cartões de risco, checklist, modelo de matriz e plataforma de registro.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5190D72-2A1B-40E4-8B7F-59C757489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676900"/>
            <a:ext cx="3905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59E0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1">
                <a:solidFill>
                  <a:srgbClr val="F59E0B"/>
                </a:solidFill>
                <a:latin typeface="Bitstream Charter"/>
                <a:ea typeface="Bitstream Charter"/>
                <a:cs typeface="Bitstream Charter"/>
              </a:rPr>
              <a:t>Publique antes do sinal de troca.</a:t>
            </a:r>
          </a:p>
        </p:txBody>
      </p:sp>
    </p:spTree>
    <p:extLst>
      <p:ext uri="{BB962C8B-B14F-4D97-AF65-F5344CB8AC3E}">
        <p14:creationId xmlns:p14="http://schemas.microsoft.com/office/powerpoint/2010/main" val="175519552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AA15CA2-521E-4DD4-9ABB-5C278A283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670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2A6A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1">
                <a:solidFill>
                  <a:srgbClr val="22A6A8"/>
                </a:solidFill>
                <a:latin typeface="Bitstream Charter"/>
                <a:ea typeface="Bitstream Charter"/>
                <a:cs typeface="Bitstream Charter"/>
              </a:rPr>
              <a:t>GUIA DA ESTAÇÃO   •   30 MINUTOS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CF28B5-89BD-4BB9-8FB0-FF098683B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0550"/>
            <a:ext cx="1057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550" b="1">
                <a:solidFill>
                  <a:srgbClr val="102A43"/>
                </a:solidFill>
                <a:latin typeface="Bitstream Charter"/>
                <a:ea typeface="Bitstream Charter"/>
                <a:cs typeface="Bitstream Charter"/>
              </a:rPr>
              <a:t>Estação 5 Fluxo da busca inteligente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60D619-78F8-44E1-A2BE-82B2F17AC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67475"/>
            <a:ext cx="1057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06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0">
                <a:solidFill>
                  <a:srgbClr val="52606D"/>
                </a:solidFill>
                <a:latin typeface="Bitstream Charter"/>
                <a:ea typeface="Bitstream Charter"/>
                <a:cs typeface="Bitstream Charter"/>
              </a:rPr>
              <a:t>Curso Técnico em Desenvolvimento de Sistemas   •   Modelagem de Sistemas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00D251-59EC-4281-9E27-6DB8E2BB5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6747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2606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1">
                <a:solidFill>
                  <a:srgbClr val="52606D"/>
                </a:solidFill>
                <a:latin typeface="Bitstream Charter"/>
                <a:ea typeface="Bitstream Charter"/>
                <a:cs typeface="Bitstream Charter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D8A4DC-F51E-402B-92A9-88DC44EB7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33500"/>
            <a:ext cx="1190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Objetivo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2DC776-0999-4C85-82C6-54BDAB08E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1333500"/>
            <a:ext cx="952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rPr>
              <a:t>Aplicar linguagem de programação para representar o fluxo do sistema.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5C8438-755D-4FAD-8A8F-CADD07D93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66900"/>
            <a:ext cx="1190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Desafio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D3B07C-3CD7-4326-BA5C-062CCED34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1866900"/>
            <a:ext cx="952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rPr>
              <a:t>Criar pseudocódigo para uma busca segura e rastreável.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E00678-4301-459D-A01A-7AA85F44E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76500"/>
            <a:ext cx="18573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Passo a passo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C38389-A143-4D5C-AAA1-3EB10D157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14650"/>
            <a:ext cx="304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6A8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118E40-7A01-4E9C-88A6-CD890A422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867025"/>
            <a:ext cx="590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rPr>
              <a:t>Defina entradas, saídas e exceções.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4ADDCB-19D1-4AE2-8A8F-20219DAA3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62325"/>
            <a:ext cx="304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6A8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2E7348-7B80-4567-B1E7-3D3ACE62E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314700"/>
            <a:ext cx="590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rPr>
              <a:t>Valide a pergunta e as permissões.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B4DD42-E6A0-4C80-8860-BF005BE3F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304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6A8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4948BC-A04F-4A8C-9474-238EF29DF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62375"/>
            <a:ext cx="590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rPr>
              <a:t>Represente a busca por similaridade.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1BD0F7-9163-47BA-A32F-91494CBF2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57675"/>
            <a:ext cx="304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6A8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EFF71B-43EC-49FE-900D-02A9FDA0D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10050"/>
            <a:ext cx="590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rPr>
              <a:t>Trate a ausência de resultados.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C122ED1-3BFA-4C16-A147-2298C912C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05350"/>
            <a:ext cx="304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6A8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B258D44-73C4-40DE-AAB8-46846BE58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657725"/>
            <a:ext cx="590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rPr>
              <a:t>Faça um teste de mesa e publique.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2477DD6-87C5-4AE0-9D14-D8E97514C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476500"/>
            <a:ext cx="1619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Evidência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4C3A9FB-43AA-4747-B745-79A3E6D40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914650"/>
            <a:ext cx="39052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3F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1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rPr>
              <a:t>Pseudocódigo comentado e teste de mesa com entrada e resultado esperado.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870EDCB-B4FD-46AE-81D2-E55DFCCD7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038600"/>
            <a:ext cx="1619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Recursos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867D8F2-8870-4DCA-9CD3-F8A1C3BAA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476750"/>
            <a:ext cx="3905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rPr>
              <a:t>Editor de texto ou código, requisitos obrigatórios, casos de teste e plataforma de registro.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540BC64-0241-4F73-8009-1C07F6C1D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676900"/>
            <a:ext cx="3905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59E0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1">
                <a:solidFill>
                  <a:srgbClr val="F59E0B"/>
                </a:solidFill>
                <a:latin typeface="Bitstream Charter"/>
                <a:ea typeface="Bitstream Charter"/>
                <a:cs typeface="Bitstream Charter"/>
              </a:rPr>
              <a:t>Publique antes do sinal de troca.</a:t>
            </a:r>
          </a:p>
        </p:txBody>
      </p:sp>
    </p:spTree>
    <p:extLst>
      <p:ext uri="{BB962C8B-B14F-4D97-AF65-F5344CB8AC3E}">
        <p14:creationId xmlns:p14="http://schemas.microsoft.com/office/powerpoint/2010/main" val="204223029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4125C34-58FD-4687-AE03-B73802F4F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670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2A6A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1">
                <a:solidFill>
                  <a:srgbClr val="22A6A8"/>
                </a:solidFill>
                <a:latin typeface="Bitstream Charter"/>
                <a:ea typeface="Bitstream Charter"/>
                <a:cs typeface="Bitstream Charter"/>
              </a:rPr>
              <a:t>MATERIAL COMUM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568EE2-93DC-4EA7-8F49-6E776EC0C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0550"/>
            <a:ext cx="1057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550" b="1">
                <a:solidFill>
                  <a:srgbClr val="102A43"/>
                </a:solidFill>
                <a:latin typeface="Bitstream Charter"/>
                <a:ea typeface="Bitstream Charter"/>
                <a:cs typeface="Bitstream Charter"/>
              </a:rPr>
              <a:t>Requisitos obrigatórios do BuscaSaber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A26CA0-1A8E-45BA-A3FA-C1AC87FFB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67475"/>
            <a:ext cx="1057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06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0">
                <a:solidFill>
                  <a:srgbClr val="52606D"/>
                </a:solidFill>
                <a:latin typeface="Bitstream Charter"/>
                <a:ea typeface="Bitstream Charter"/>
                <a:cs typeface="Bitstream Charter"/>
              </a:rPr>
              <a:t>Curso Técnico em Desenvolvimento de Sistemas   •   Modelagem de Sistemas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CE1BCD-E490-4802-AEC7-3862E4649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6747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2606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1">
                <a:solidFill>
                  <a:srgbClr val="52606D"/>
                </a:solidFill>
                <a:latin typeface="Bitstream Charter"/>
                <a:ea typeface="Bitstream Charter"/>
                <a:cs typeface="Bitstream Charter"/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6F3E72-7D08-4A17-A6B8-C3FBD8F89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228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3219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2A6A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1">
                <a:solidFill>
                  <a:srgbClr val="22A6A8"/>
                </a:solidFill>
                <a:latin typeface="Bitstream Charter"/>
                <a:ea typeface="Bitstream Charter"/>
                <a:cs typeface="Bitstream Charter"/>
              </a:rPr>
              <a:t>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009107-B04B-49AF-8330-18304E4A2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28750"/>
            <a:ext cx="10020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rPr>
              <a:t>Receber uma pergunta em linguagem natural.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057FF8-A8A8-4B82-A62C-FA0B33104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66925"/>
            <a:ext cx="228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3219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2A6A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1">
                <a:solidFill>
                  <a:srgbClr val="22A6A8"/>
                </a:solidFill>
                <a:latin typeface="Bitstream Charter"/>
                <a:ea typeface="Bitstream Charter"/>
                <a:cs typeface="Bitstream Charter"/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968F99-6596-474C-B747-59E722B45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66925"/>
            <a:ext cx="10020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rPr>
              <a:t>Pesquisar somente documentos autorizados para o usuário.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F0E593-5B34-49AC-9D88-283A88A59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05100"/>
            <a:ext cx="228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3219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2A6A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1">
                <a:solidFill>
                  <a:srgbClr val="22A6A8"/>
                </a:solidFill>
                <a:latin typeface="Bitstream Charter"/>
                <a:ea typeface="Bitstream Charter"/>
                <a:cs typeface="Bitstream Charter"/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58AD93-7160-4961-9675-EDD13E894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05100"/>
            <a:ext cx="10020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rPr>
              <a:t>Apresentar título, trecho e fonte de cada resultado.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884295-71DF-43D4-ACC1-90A37FC8A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43275"/>
            <a:ext cx="228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3219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2A6A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1">
                <a:solidFill>
                  <a:srgbClr val="22A6A8"/>
                </a:solidFill>
                <a:latin typeface="Bitstream Charter"/>
                <a:ea typeface="Bitstream Charter"/>
                <a:cs typeface="Bitstream Charter"/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EF66BC-7502-4D09-B479-1F85591F8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43275"/>
            <a:ext cx="10020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rPr>
              <a:t>Informar quando não houver resultado suficientemente semelhante.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EB3441-1A22-4D09-A2B3-9272E0B67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81450"/>
            <a:ext cx="228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3219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2A6A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1">
                <a:solidFill>
                  <a:srgbClr val="22A6A8"/>
                </a:solidFill>
                <a:latin typeface="Bitstream Charter"/>
                <a:ea typeface="Bitstream Charter"/>
                <a:cs typeface="Bitstream Charter"/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A359E6-72F2-45B4-89C1-794CF035C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81450"/>
            <a:ext cx="10020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rPr>
              <a:t>Permitir a inclusão, atualização e remoção de documentos por administradores.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2A3F99-C396-4F73-9D1A-C8926A44B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19625"/>
            <a:ext cx="228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3219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2A6A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1">
                <a:solidFill>
                  <a:srgbClr val="22A6A8"/>
                </a:solidFill>
                <a:latin typeface="Bitstream Charter"/>
                <a:ea typeface="Bitstream Charter"/>
                <a:cs typeface="Bitstream Charter"/>
              </a:rPr>
              <a:t>•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DFB31F-16BF-4574-91BD-7D9DC403F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619625"/>
            <a:ext cx="10020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rPr>
              <a:t>Registrar o uso sem armazenar dados pessoais desnecessários.</a:t>
            </a:r>
          </a:p>
        </p:txBody>
      </p:sp>
    </p:spTree>
    <p:extLst>
      <p:ext uri="{BB962C8B-B14F-4D97-AF65-F5344CB8AC3E}">
        <p14:creationId xmlns:p14="http://schemas.microsoft.com/office/powerpoint/2010/main" val="151360322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D9377D-36C5-495E-80AA-C5025DDD8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670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2A6A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1">
                <a:solidFill>
                  <a:srgbClr val="22A6A8"/>
                </a:solidFill>
                <a:latin typeface="Bitstream Charter"/>
                <a:ea typeface="Bitstream Charter"/>
                <a:cs typeface="Bitstream Charter"/>
              </a:rPr>
              <a:t>25 MINUTOS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75B715-4FCC-4A1A-8C00-0C7AD3FCE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0550"/>
            <a:ext cx="1057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550" b="1">
                <a:solidFill>
                  <a:srgbClr val="102A43"/>
                </a:solidFill>
                <a:latin typeface="Bitstream Charter"/>
                <a:ea typeface="Bitstream Charter"/>
                <a:cs typeface="Bitstream Charter"/>
              </a:rPr>
              <a:t>Síntese coletiva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13A2F4-E338-4272-A7D7-6C5E553F5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67475"/>
            <a:ext cx="1057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06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0">
                <a:solidFill>
                  <a:srgbClr val="52606D"/>
                </a:solidFill>
                <a:latin typeface="Bitstream Charter"/>
                <a:ea typeface="Bitstream Charter"/>
                <a:cs typeface="Bitstream Charter"/>
              </a:rPr>
              <a:t>Curso Técnico em Desenvolvimento de Sistemas   •   Modelagem de Sistemas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F03F92-0E55-4A64-9417-C89DAA15B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6747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2606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1">
                <a:solidFill>
                  <a:srgbClr val="52606D"/>
                </a:solidFill>
                <a:latin typeface="Bitstream Charter"/>
                <a:ea typeface="Bitstream Charter"/>
                <a:cs typeface="Bitstream Charter"/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F1EE90-2610-4BF6-9CCC-ACE8B5E92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10668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3F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02A4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1">
                <a:solidFill>
                  <a:srgbClr val="102A43"/>
                </a:solidFill>
                <a:latin typeface="Bitstream Charter"/>
                <a:ea typeface="Bitstream Charter"/>
                <a:cs typeface="Bitstream Charter"/>
              </a:rPr>
              <a:t>Cada grupo escolhe uma decisão técnica que considera essencial e a justifica para a turma.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4103AE-0C40-4743-A0F3-29C1FB9DC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71750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6A8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86941E-84C0-47F4-9F70-F2B49E161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533650"/>
            <a:ext cx="904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1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rPr>
              <a:t>Qual necessidade orientou a decisão?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4F8F2A-C534-47BE-AAFC-4A838876E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57550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6A8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CF743C-9C72-4BA5-B094-2A0BFAC4E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219450"/>
            <a:ext cx="904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1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rPr>
              <a:t>Qual requisito oferece evidência?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13CB4B-29C2-4E73-853B-CF2002AD1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43350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6A8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3B7F9C-503F-45DC-8EB4-031CD040B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905250"/>
            <a:ext cx="904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1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rPr>
              <a:t>Que risco foi reduzido?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FD4C96-62A5-4585-B0A2-07DDE4A7A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29150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6A8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A8A7A1-361A-4910-9B8C-92B6550D8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591050"/>
            <a:ext cx="904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1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rPr>
              <a:t>Como a solução será verificada?</a:t>
            </a:r>
          </a:p>
        </p:txBody>
      </p:sp>
    </p:spTree>
    <p:extLst>
      <p:ext uri="{BB962C8B-B14F-4D97-AF65-F5344CB8AC3E}">
        <p14:creationId xmlns:p14="http://schemas.microsoft.com/office/powerpoint/2010/main" val="142665470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12EE709-31B3-4525-9842-53C551591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670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2A6A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1">
                <a:solidFill>
                  <a:srgbClr val="22A6A8"/>
                </a:solidFill>
                <a:latin typeface="Bitstream Charter"/>
                <a:ea typeface="Bitstream Charter"/>
                <a:cs typeface="Bitstream Charter"/>
              </a:rPr>
              <a:t>AVALIAÇÃO FORMATIVA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9989E2-4143-472A-87BB-7664393DB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0550"/>
            <a:ext cx="1057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550" b="1">
                <a:solidFill>
                  <a:srgbClr val="102A43"/>
                </a:solidFill>
                <a:latin typeface="Bitstream Charter"/>
                <a:ea typeface="Bitstream Charter"/>
                <a:cs typeface="Bitstream Charter"/>
              </a:rPr>
              <a:t>Registros da aprendizagem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3CD2E1-7F3B-4174-B50C-4D7E64A90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67475"/>
            <a:ext cx="1057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06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0">
                <a:solidFill>
                  <a:srgbClr val="52606D"/>
                </a:solidFill>
                <a:latin typeface="Bitstream Charter"/>
                <a:ea typeface="Bitstream Charter"/>
                <a:cs typeface="Bitstream Charter"/>
              </a:rPr>
              <a:t>Curso Técnico em Desenvolvimento de Sistemas   •   Modelagem de Sistemas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E6CA73-9961-4BB2-8160-58E823AC8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6747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2606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1">
                <a:solidFill>
                  <a:srgbClr val="52606D"/>
                </a:solidFill>
                <a:latin typeface="Bitstream Charter"/>
                <a:ea typeface="Bitstream Charter"/>
                <a:cs typeface="Bitstream Charter"/>
              </a:rPr>
              <a:t>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748CEF-F001-43B7-B10D-F1122A004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81125"/>
            <a:ext cx="3143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Evidências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A64F8A-2009-4B63-BA38-E11B12FB2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381125"/>
            <a:ext cx="3143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Critérios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3AC2EC-E0B6-45FE-B283-EFA9FBB63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381125"/>
            <a:ext cx="2876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Fechamento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FABB63-56BD-4F76-AADA-6AFCCE9C2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952625"/>
            <a:ext cx="228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33531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2A6A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1">
                <a:solidFill>
                  <a:srgbClr val="22A6A8"/>
                </a:solidFill>
                <a:latin typeface="Bitstream Charter"/>
                <a:ea typeface="Bitstream Charter"/>
                <a:cs typeface="Bitstream Charter"/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66F86C-AB09-4428-9F9C-9BFC23F4D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1952625"/>
            <a:ext cx="3067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rPr>
              <a:t>Produções das estações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F97141-B82C-4267-A33E-DDDEFCC72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619375"/>
            <a:ext cx="228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33531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2A6A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1">
                <a:solidFill>
                  <a:srgbClr val="22A6A8"/>
                </a:solidFill>
                <a:latin typeface="Bitstream Charter"/>
                <a:ea typeface="Bitstream Charter"/>
                <a:cs typeface="Bitstream Charter"/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E64984-0654-476E-A49C-ED91B73EF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2619375"/>
            <a:ext cx="3067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rPr>
              <a:t>Checklist docente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27ADF0-BBF6-4ADF-9764-D16555B9C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286125"/>
            <a:ext cx="228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33531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2A6A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1">
                <a:solidFill>
                  <a:srgbClr val="22A6A8"/>
                </a:solidFill>
                <a:latin typeface="Bitstream Charter"/>
                <a:ea typeface="Bitstream Charter"/>
                <a:cs typeface="Bitstream Charter"/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028EA8-15F1-4784-93B8-17B656B32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3286125"/>
            <a:ext cx="3067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rPr>
              <a:t>Síntese oral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EF1198-003E-4078-BF17-0E8CD5A95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1952625"/>
            <a:ext cx="228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33531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2A6A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1">
                <a:solidFill>
                  <a:srgbClr val="22A6A8"/>
                </a:solidFill>
                <a:latin typeface="Bitstream Charter"/>
                <a:ea typeface="Bitstream Charter"/>
                <a:cs typeface="Bitstream Charter"/>
              </a:rPr>
              <a:t>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F6412F-059F-492B-A44B-C032BDF95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1952625"/>
            <a:ext cx="3067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rPr>
              <a:t>Coerência técnica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6BBC9D-D007-49C3-A2D8-6D8CB68D1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543175"/>
            <a:ext cx="228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33531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2A6A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1">
                <a:solidFill>
                  <a:srgbClr val="22A6A8"/>
                </a:solidFill>
                <a:latin typeface="Bitstream Charter"/>
                <a:ea typeface="Bitstream Charter"/>
                <a:cs typeface="Bitstream Charter"/>
              </a:rPr>
              <a:t>•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A8D3E19-4C12-44C9-BECF-F10A9F6C9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2543175"/>
            <a:ext cx="3067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rPr>
              <a:t>Requisitos verificáveis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848BFE1-5B88-46B9-98DA-E6675B5E6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3133725"/>
            <a:ext cx="228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33531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2A6A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1">
                <a:solidFill>
                  <a:srgbClr val="22A6A8"/>
                </a:solidFill>
                <a:latin typeface="Bitstream Charter"/>
                <a:ea typeface="Bitstream Charter"/>
                <a:cs typeface="Bitstream Charter"/>
              </a:rPr>
              <a:t>•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5C58733-A9DD-4B04-9763-220C31C95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3133725"/>
            <a:ext cx="3067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rPr>
              <a:t>Decisões justificadas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94383DA-59DE-421C-9462-A613F78D5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3724275"/>
            <a:ext cx="228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33531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2A6A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1">
                <a:solidFill>
                  <a:srgbClr val="22A6A8"/>
                </a:solidFill>
                <a:latin typeface="Bitstream Charter"/>
                <a:ea typeface="Bitstream Charter"/>
                <a:cs typeface="Bitstream Charter"/>
              </a:rPr>
              <a:t>•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26D3E21-26F3-442E-BC53-42740F4D1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3724275"/>
            <a:ext cx="3067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rPr>
              <a:t>Colaboração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D684BB2-90CF-4E13-BA8B-E1BAD91A4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1952625"/>
            <a:ext cx="228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33531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2A6A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1">
                <a:solidFill>
                  <a:srgbClr val="22A6A8"/>
                </a:solidFill>
                <a:latin typeface="Bitstream Charter"/>
                <a:ea typeface="Bitstream Charter"/>
                <a:cs typeface="Bitstream Charter"/>
              </a:rPr>
              <a:t>•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F18CF8C-4D99-4542-BA9A-20E57EA2C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1952625"/>
            <a:ext cx="24479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rPr>
              <a:t>Autoavaliação individual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A898E02-E487-4DAB-904C-375F459B7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2619375"/>
            <a:ext cx="228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33531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2A6A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1">
                <a:solidFill>
                  <a:srgbClr val="22A6A8"/>
                </a:solidFill>
                <a:latin typeface="Bitstream Charter"/>
                <a:ea typeface="Bitstream Charter"/>
                <a:cs typeface="Bitstream Charter"/>
              </a:rPr>
              <a:t>•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F650159-C954-4F78-AD28-4AD587298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2619375"/>
            <a:ext cx="24479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rPr>
              <a:t>Aprendizado principal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D77B82B-093E-42B8-9283-E3FB6E91D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3286125"/>
            <a:ext cx="228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33531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2A6A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1">
                <a:solidFill>
                  <a:srgbClr val="22A6A8"/>
                </a:solidFill>
                <a:latin typeface="Bitstream Charter"/>
                <a:ea typeface="Bitstream Charter"/>
                <a:cs typeface="Bitstream Charter"/>
              </a:rPr>
              <a:t>•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B26C59E-7FD8-468F-9E55-C642A912C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3286125"/>
            <a:ext cx="24479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rPr>
              <a:t>Dificuldade atual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B608380-F94E-4552-B3D2-353ECB508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095875"/>
            <a:ext cx="108394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3F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02A4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1">
                <a:solidFill>
                  <a:srgbClr val="102A43"/>
                </a:solidFill>
                <a:latin typeface="Bitstream Charter"/>
                <a:ea typeface="Bitstream Charter"/>
                <a:cs typeface="Bitstream Charter"/>
              </a:rPr>
              <a:t>A proposta final deve relacionar necessidades, requisitos, arquitetura, riscos e pseudocódigo.</a:t>
            </a:r>
          </a:p>
        </p:txBody>
      </p:sp>
    </p:spTree>
    <p:extLst>
      <p:ext uri="{BB962C8B-B14F-4D97-AF65-F5344CB8AC3E}">
        <p14:creationId xmlns:p14="http://schemas.microsoft.com/office/powerpoint/2010/main" val="30203346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2026-09-13T21:47:58.5290000Z</dcterms:created>
  <dcterms:modified xsi:type="dcterms:W3CDTF">2026-09-13T21:47:58.5290000Z</dcterms:modified>
</coreProperties>
</file>
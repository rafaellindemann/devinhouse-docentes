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tema e alinhamento curricular.</a:t>
            </a:r>
          </a:p>
          <a:p>
            <a:pPr/>
            <a:r>
              <a:t>- Mentoria Pedagógica 2 - Estações por Rotação: modelo visual.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Shape 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Mentoria Pedagógica 2 - Estações por Rotação: texto-base sobre vantagens.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organização dos grupos, tempos e registros.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Estação 1.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9" name="Shape 1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Estação 2.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Estação 3.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Estação 4.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Estação 5.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Plano de Aula - Rotação por Estações: registro de evidências e socialização.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;p2" descr="Google Shape;9;p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4" cy="513904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o do Título"/>
          <p:cNvSpPr txBox="1"/>
          <p:nvPr>
            <p:ph type="title"/>
          </p:nvPr>
        </p:nvSpPr>
        <p:spPr>
          <a:xfrm>
            <a:off x="1527899" y="1576849"/>
            <a:ext cx="6088202" cy="1138801"/>
          </a:xfrm>
          <a:prstGeom prst="rect">
            <a:avLst/>
          </a:prstGeom>
        </p:spPr>
        <p:txBody>
          <a:bodyPr/>
          <a:lstStyle>
            <a:lvl1pPr algn="ctr">
              <a:defRPr sz="3500"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14" name="Número do Slide"/>
          <p:cNvSpPr txBox="1"/>
          <p:nvPr>
            <p:ph type="sldNum" sz="quarter" idx="2"/>
          </p:nvPr>
        </p:nvSpPr>
        <p:spPr>
          <a:xfrm>
            <a:off x="8684345" y="4692391"/>
            <a:ext cx="336814" cy="3352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o do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22" name="Nível de Corpo Um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3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16;p4" descr="Google Shape;16;p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4" cy="5139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7;p4" descr="Google Shape;17;p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0937" y="152400"/>
            <a:ext cx="8602135" cy="4838700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9;p5" descr="Google Shape;19;p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4" cy="5139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20;p5" descr="Google Shape;20;p5"/>
          <p:cNvPicPr>
            <a:picLocks noChangeAspect="1"/>
          </p:cNvPicPr>
          <p:nvPr/>
        </p:nvPicPr>
        <p:blipFill>
          <a:blip r:embed="rId3">
            <a:extLst/>
          </a:blip>
          <a:srcRect l="20157" t="42274" r="47629" b="43071"/>
          <a:stretch>
            <a:fillRect/>
          </a:stretch>
        </p:blipFill>
        <p:spPr>
          <a:xfrm>
            <a:off x="3063175" y="2183425"/>
            <a:ext cx="3017650" cy="77220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22;p6" descr="Google Shape;22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o do Título"/>
          <p:cNvSpPr txBox="1"/>
          <p:nvPr>
            <p:ph type="title"/>
          </p:nvPr>
        </p:nvSpPr>
        <p:spPr>
          <a:xfrm>
            <a:off x="1288199" y="2002350"/>
            <a:ext cx="6567601" cy="1138801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50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25;p7" descr="Google Shape;25;p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5194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o do Título"/>
          <p:cNvSpPr txBox="1"/>
          <p:nvPr>
            <p:ph type="title"/>
          </p:nvPr>
        </p:nvSpPr>
        <p:spPr>
          <a:xfrm>
            <a:off x="1527899" y="2133749"/>
            <a:ext cx="6088202" cy="113880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666666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59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o do Título"/>
          <p:cNvSpPr txBox="1"/>
          <p:nvPr>
            <p:ph type="title"/>
          </p:nvPr>
        </p:nvSpPr>
        <p:spPr>
          <a:xfrm>
            <a:off x="628650" y="273846"/>
            <a:ext cx="7886700" cy="994201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67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;p3" descr="Google Shape;12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4" cy="51390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o do Título"/>
          <p:cNvSpPr txBox="1"/>
          <p:nvPr>
            <p:ph type="title"/>
          </p:nvPr>
        </p:nvSpPr>
        <p:spPr>
          <a:xfrm>
            <a:off x="323999" y="527500"/>
            <a:ext cx="8473801" cy="43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normAutofit fontScale="100000" lnSpcReduction="0"/>
          </a:bodyPr>
          <a:lstStyle/>
          <a:p>
            <a:pPr/>
            <a:r>
              <a:t>Texto do Título</a:t>
            </a:r>
          </a:p>
        </p:txBody>
      </p:sp>
      <p:sp>
        <p:nvSpPr>
          <p:cNvPr id="4" name="Nível de Corpo Um…"/>
          <p:cNvSpPr txBox="1"/>
          <p:nvPr>
            <p:ph type="body" idx="1"/>
          </p:nvPr>
        </p:nvSpPr>
        <p:spPr>
          <a:xfrm>
            <a:off x="323999" y="1344100"/>
            <a:ext cx="8473801" cy="323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" name="Número do Slide"/>
          <p:cNvSpPr txBox="1"/>
          <p:nvPr>
            <p:ph type="sldNum" sz="quarter" idx="2"/>
          </p:nvPr>
        </p:nvSpPr>
        <p:spPr>
          <a:xfrm>
            <a:off x="4419600" y="4599637"/>
            <a:ext cx="2133600" cy="3352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1pPr>
      <a:lvl2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2pPr>
      <a:lvl3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3pPr>
      <a:lvl4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4pPr>
      <a:lvl5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5pPr>
      <a:lvl6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6pPr>
      <a:lvl7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7pPr>
      <a:lvl8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8pPr>
      <a:lvl9pPr marL="0" marR="0" indent="0" algn="just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500" u="none">
          <a:solidFill>
            <a:srgbClr val="225FA7"/>
          </a:solidFill>
          <a:uFillTx/>
          <a:latin typeface="Lexend"/>
          <a:ea typeface="Lexend"/>
          <a:cs typeface="Lexend"/>
          <a:sym typeface="Lexen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hyperlink" Target="https://canva.link/0m2u2nnxmaqbxyh" TargetMode="External"/><Relationship Id="rId4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33;p9"/>
          <p:cNvSpPr txBox="1"/>
          <p:nvPr>
            <p:ph type="ctrTitle"/>
          </p:nvPr>
        </p:nvSpPr>
        <p:spPr>
          <a:xfrm>
            <a:off x="1541749" y="1576849"/>
            <a:ext cx="6074402" cy="1138802"/>
          </a:xfrm>
          <a:prstGeom prst="rect">
            <a:avLst/>
          </a:prstGeom>
        </p:spPr>
        <p:txBody>
          <a:bodyPr/>
          <a:lstStyle/>
          <a:p>
            <a:pPr defTabSz="685800">
              <a:defRPr sz="3150"/>
            </a:pPr>
            <a:r>
              <a:t>Rotação por Estações</a:t>
            </a:r>
          </a:p>
          <a:p>
            <a:pPr defTabSz="685800">
              <a:defRPr sz="3150"/>
            </a:pPr>
            <a:r>
              <a:t>Modelagem de Sistemas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38;p10" descr="Google Shape;38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Google Shape;39;p10"/>
          <p:cNvSpPr txBox="1"/>
          <p:nvPr>
            <p:ph type="title"/>
          </p:nvPr>
        </p:nvSpPr>
        <p:spPr>
          <a:xfrm>
            <a:off x="1527899" y="2133749"/>
            <a:ext cx="6088201" cy="1138802"/>
          </a:xfrm>
          <a:prstGeom prst="rect">
            <a:avLst/>
          </a:prstGeom>
        </p:spPr>
        <p:txBody>
          <a:bodyPr/>
          <a:lstStyle/>
          <a:p>
            <a:pPr/>
            <a:r>
              <a:t>In House_Mentoria Pedagógica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44;p11"/>
          <p:cNvSpPr txBox="1"/>
          <p:nvPr>
            <p:ph type="title"/>
          </p:nvPr>
        </p:nvSpPr>
        <p:spPr>
          <a:xfrm>
            <a:off x="324000" y="363099"/>
            <a:ext cx="8078700" cy="86460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</a:lstStyle>
          <a:p>
            <a:pPr/>
            <a:r>
              <a:t>VANTAGENS DO USO DE METODOLOGIA ESTAÇÃO POR ROTAÇÃO</a:t>
            </a:r>
          </a:p>
        </p:txBody>
      </p:sp>
      <p:sp>
        <p:nvSpPr>
          <p:cNvPr id="84" name="Google Shape;45;p11"/>
          <p:cNvSpPr txBox="1"/>
          <p:nvPr>
            <p:ph type="body" idx="1"/>
          </p:nvPr>
        </p:nvSpPr>
        <p:spPr>
          <a:xfrm>
            <a:off x="214950" y="1354700"/>
            <a:ext cx="8714100" cy="3344400"/>
          </a:xfrm>
          <a:prstGeom prst="rect">
            <a:avLst/>
          </a:prstGeom>
        </p:spPr>
        <p:txBody>
          <a:bodyPr/>
          <a:lstStyle/>
          <a:p>
            <a:pPr marL="457200" indent="-323850">
              <a:buClr>
                <a:srgbClr val="225FA7"/>
              </a:buClr>
              <a:buSzPts val="1500"/>
              <a:buFont typeface="Helvetica"/>
              <a:buChar char="●"/>
            </a:pPr>
            <a:r>
              <a:t>Maior </a:t>
            </a:r>
            <a:r>
              <a:rPr b="1"/>
              <a:t>engajamento</a:t>
            </a:r>
            <a:r>
              <a:t> dos alunos: incentivam a participação ativa dos alunos;</a:t>
            </a:r>
          </a:p>
          <a:p>
            <a:pPr indent="457200"/>
          </a:p>
          <a:p>
            <a:pPr marL="457200" indent="-323850">
              <a:buClr>
                <a:srgbClr val="225FA7"/>
              </a:buClr>
              <a:buSzPts val="1500"/>
              <a:buFont typeface="Helvetica"/>
              <a:buChar char="●"/>
              <a:defRPr b="1"/>
            </a:pPr>
            <a:r>
              <a:t>Aprendizado significativo: </a:t>
            </a:r>
            <a:r>
              <a:rPr b="0"/>
              <a:t>ao envolver os alunos em atividades práticas e desafiadoras, facilitam a compreensão dos conteúdos de forma mais profunda e fixação do conhecimento;</a:t>
            </a:r>
            <a:endParaRPr b="0"/>
          </a:p>
          <a:p>
            <a:pPr indent="457200"/>
          </a:p>
          <a:p>
            <a:pPr marL="457200" indent="-323850">
              <a:buClr>
                <a:srgbClr val="225FA7"/>
              </a:buClr>
              <a:buSzPts val="1500"/>
              <a:buFont typeface="Helvetica"/>
              <a:buChar char="●"/>
            </a:pPr>
            <a:r>
              <a:t>Desenvolvimento de </a:t>
            </a:r>
            <a:r>
              <a:rPr b="1"/>
              <a:t>habilidades como trabalho em equipe, pensamento crítico, resolução de problemas e tomada de decisões,</a:t>
            </a:r>
            <a:r>
              <a:t> que são importantes no mundo atual;</a:t>
            </a:r>
          </a:p>
          <a:p>
            <a:pPr indent="457200"/>
          </a:p>
          <a:p>
            <a:pPr marL="457200" indent="-323850">
              <a:buClr>
                <a:srgbClr val="225FA7"/>
              </a:buClr>
              <a:buSzPts val="1500"/>
              <a:buFont typeface="Helvetica"/>
              <a:buChar char="●"/>
              <a:defRPr b="1"/>
            </a:pPr>
            <a:r>
              <a:t>Autonomia e Responsabilidade:</a:t>
            </a:r>
            <a:r>
              <a:rPr b="0"/>
              <a:t> os alunos são encorajados a assumir um papel mais ativo em seu próprio processo de aprendizagem, tornando-se responsáveis por seu próprio desenvolvimento;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50;p12"/>
          <p:cNvSpPr txBox="1"/>
          <p:nvPr/>
        </p:nvSpPr>
        <p:spPr>
          <a:xfrm>
            <a:off x="5483500" y="1323750"/>
            <a:ext cx="3336600" cy="2621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5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</a:lstStyle>
          <a:p>
            <a:pPr/>
            <a:r>
              <a:t>Estação por rotações</a:t>
            </a:r>
          </a:p>
        </p:txBody>
      </p:sp>
      <p:pic>
        <p:nvPicPr>
          <p:cNvPr id="89" name="Google Shape;51;p12" descr="Google Shape;51;p12"/>
          <p:cNvPicPr>
            <a:picLocks noChangeAspect="1"/>
          </p:cNvPicPr>
          <p:nvPr/>
        </p:nvPicPr>
        <p:blipFill>
          <a:blip r:embed="rId3">
            <a:extLst/>
          </a:blip>
          <a:srcRect l="10637" t="1880" r="14300" b="5980"/>
          <a:stretch>
            <a:fillRect/>
          </a:stretch>
        </p:blipFill>
        <p:spPr>
          <a:xfrm rot="5400000">
            <a:off x="1075850" y="-411901"/>
            <a:ext cx="3560325" cy="54641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56;p13" descr="Google Shape;56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5626" y="866874"/>
            <a:ext cx="4818051" cy="354592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19050" dir="5400000">
              <a:srgbClr val="000000">
                <a:alpha val="50000"/>
              </a:srgbClr>
            </a:outerShdw>
          </a:effectLst>
        </p:spPr>
      </p:pic>
      <p:sp>
        <p:nvSpPr>
          <p:cNvPr id="92" name="Google Shape;57;p13"/>
          <p:cNvSpPr txBox="1"/>
          <p:nvPr/>
        </p:nvSpPr>
        <p:spPr>
          <a:xfrm>
            <a:off x="5483500" y="1323750"/>
            <a:ext cx="3336600" cy="180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5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</a:lstStyle>
          <a:p>
            <a:pPr/>
            <a:r>
              <a:t>Roteiro da prática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62;p14"/>
          <p:cNvSpPr txBox="1"/>
          <p:nvPr/>
        </p:nvSpPr>
        <p:spPr>
          <a:xfrm>
            <a:off x="5095349" y="1323750"/>
            <a:ext cx="3724801" cy="180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5300" u="sng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latin typeface="Lexend"/>
                <a:ea typeface="Lexend"/>
                <a:cs typeface="Lexend"/>
                <a:sym typeface="Lexend"/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FFFFF"/>
                </a:solidFill>
                <a:uFillTx/>
              </a:defRPr>
            </a:pPr>
            <a:r>
              <a:rPr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hlinkClick r:id="rId3" invalidUrl="" action="" tgtFrame="" tooltip="" history="1" highlightClick="0" endSnd="0"/>
              </a:rPr>
              <a:t>Vamos viajar?</a:t>
            </a:r>
          </a:p>
        </p:txBody>
      </p:sp>
      <p:pic>
        <p:nvPicPr>
          <p:cNvPr id="95" name="Google Shape;63;p14" descr="Google Shape;63;p14"/>
          <p:cNvPicPr>
            <a:picLocks noChangeAspect="1"/>
          </p:cNvPicPr>
          <p:nvPr/>
        </p:nvPicPr>
        <p:blipFill>
          <a:blip r:embed="rId4">
            <a:extLst/>
          </a:blip>
          <a:srcRect l="17995" t="13833" r="19974" b="12311"/>
          <a:stretch>
            <a:fillRect/>
          </a:stretch>
        </p:blipFill>
        <p:spPr>
          <a:xfrm>
            <a:off x="1052274" y="398400"/>
            <a:ext cx="3083426" cy="4590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68;p15"/>
          <p:cNvSpPr txBox="1"/>
          <p:nvPr/>
        </p:nvSpPr>
        <p:spPr>
          <a:xfrm>
            <a:off x="218175" y="180775"/>
            <a:ext cx="8322599" cy="202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81000" algn="just">
              <a:lnSpc>
                <a:spcPct val="90000"/>
              </a:lnSpc>
              <a:buClr>
                <a:srgbClr val="095DA8"/>
              </a:buClr>
              <a:buSzPts val="2400"/>
              <a:buAutoNum type="arabicPeriod" startAt="1"/>
              <a:defRPr sz="2400">
                <a:solidFill>
                  <a:srgbClr val="F7F7F7"/>
                </a:solidFill>
                <a:latin typeface="Lexend"/>
                <a:ea typeface="Lexend"/>
                <a:cs typeface="Lexend"/>
                <a:sym typeface="Lexend"/>
              </a:defRPr>
            </a:pPr>
            <a:r>
              <a:t>Acesse o guia na Estação Central.</a:t>
            </a:r>
          </a:p>
          <a:p>
            <a:pPr indent="457200" algn="just">
              <a:lnSpc>
                <a:spcPct val="90000"/>
              </a:lnSpc>
            </a:pPr>
            <a:r>
              <a:t>Forme uma equipe de 4 a 5 integrantes e distribua os papéis.</a:t>
            </a:r>
            <a:endParaRPr sz="2400">
              <a:solidFill>
                <a:srgbClr val="F7F7F7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indent="-381000" algn="just">
              <a:lnSpc>
                <a:spcPct val="90000"/>
              </a:lnSpc>
              <a:buClr>
                <a:srgbClr val="095DA8"/>
              </a:buClr>
              <a:buSzPts val="2400"/>
              <a:buAutoNum type="arabicPeriod" startAt="1"/>
              <a:defRPr sz="2400">
                <a:solidFill>
                  <a:srgbClr val="F7F7F7"/>
                </a:solidFill>
                <a:latin typeface="Lexend"/>
                <a:ea typeface="Lexend"/>
                <a:cs typeface="Lexend"/>
                <a:sym typeface="Lexend"/>
              </a:defRPr>
            </a:pPr>
            <a:r>
              <a:t>Permaneça 30 minutos em cada estação e siga a ordem crescente.</a:t>
            </a:r>
          </a:p>
          <a:p>
            <a:pPr indent="457200" algn="just">
              <a:lnSpc>
                <a:spcPct val="90000"/>
              </a:lnSpc>
            </a:pPr>
            <a:r>
              <a:t>Publique a evidência e mude ao som do trem.</a:t>
            </a:r>
            <a:endParaRPr sz="2400">
              <a:solidFill>
                <a:srgbClr val="F7F7F7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indent="-381000" algn="just">
              <a:lnSpc>
                <a:spcPct val="90000"/>
              </a:lnSpc>
              <a:buClr>
                <a:srgbClr val="095DA8"/>
              </a:buClr>
              <a:buSzPts val="2400"/>
              <a:buAutoNum type="arabicPeriod" startAt="1"/>
              <a:defRPr sz="2400">
                <a:solidFill>
                  <a:srgbClr val="F2F2F2"/>
                </a:solidFill>
                <a:latin typeface="Lexend"/>
                <a:ea typeface="Lexend"/>
                <a:cs typeface="Lexend"/>
                <a:sym typeface="Lexend"/>
              </a:defRPr>
            </a:pPr>
            <a:r>
              <a:t>Socialize os resultados e preencha a autoavaliação.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73;p16"/>
          <p:cNvSpPr txBox="1"/>
          <p:nvPr>
            <p:ph type="title"/>
          </p:nvPr>
        </p:nvSpPr>
        <p:spPr>
          <a:xfrm>
            <a:off x="323999" y="368749"/>
            <a:ext cx="6491702" cy="432302"/>
          </a:xfrm>
          <a:prstGeom prst="rect">
            <a:avLst/>
          </a:prstGeom>
        </p:spPr>
        <p:txBody>
          <a:bodyPr/>
          <a:lstStyle>
            <a:lvl1pPr defTabSz="585215">
              <a:defRPr sz="1600"/>
            </a:lvl1pPr>
          </a:lstStyle>
          <a:p>
            <a:pPr/>
            <a:r>
              <a:t>Estação 1 - Investigando o problema</a:t>
            </a:r>
          </a:p>
        </p:txBody>
      </p:sp>
      <p:sp>
        <p:nvSpPr>
          <p:cNvPr id="102" name="Google Shape;74;p16"/>
          <p:cNvSpPr txBox="1"/>
          <p:nvPr>
            <p:ph type="body" sz="half" idx="1"/>
          </p:nvPr>
        </p:nvSpPr>
        <p:spPr>
          <a:xfrm>
            <a:off x="324000" y="1344100"/>
            <a:ext cx="4169811" cy="3429301"/>
          </a:xfrm>
          <a:prstGeom prst="rect">
            <a:avLst/>
          </a:prstGeom>
        </p:spPr>
        <p:txBody>
          <a:bodyPr/>
          <a:lstStyle/>
          <a:p>
            <a:pPr defTabSz="355600">
              <a:defRPr sz="1300">
                <a:solidFill>
                  <a:schemeClr val="accent1">
                    <a:satOff val="-31580"/>
                    <a:lumOff val="-12156"/>
                  </a:schemeClr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  </a:t>
            </a:r>
            <a:r>
              <a:rPr sz="1500"/>
              <a:t>1.Leia o estudo de caso da API HelpTech.</a:t>
            </a:r>
            <a:endParaRPr sz="1500"/>
          </a:p>
          <a:p>
            <a:pPr defTabSz="355600">
              <a:defRPr>
                <a:solidFill>
                  <a:schemeClr val="accent1">
                    <a:satOff val="-31580"/>
                    <a:lumOff val="-12156"/>
                  </a:schemeClr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   Identifique os perfis de usuário.</a:t>
            </a:r>
          </a:p>
          <a:p>
            <a:pPr defTabSz="355600">
              <a:defRPr>
                <a:solidFill>
                  <a:schemeClr val="accent1">
                    <a:satOff val="-31580"/>
                    <a:lumOff val="-12156"/>
                  </a:schemeClr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  2.Liste as necessidades de cada perfil.</a:t>
            </a:r>
          </a:p>
          <a:p>
            <a:pPr defTabSz="355600">
              <a:defRPr>
                <a:solidFill>
                  <a:schemeClr val="accent1">
                    <a:satOff val="-31580"/>
                    <a:lumOff val="-12156"/>
                  </a:schemeClr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  Elabore pelo menos 5 regras de negócio.</a:t>
            </a:r>
          </a:p>
          <a:p>
            <a:pPr defTabSz="355600">
              <a:defRPr>
                <a:solidFill>
                  <a:schemeClr val="accent1">
                    <a:satOff val="-31580"/>
                    <a:lumOff val="-12156"/>
                  </a:schemeClr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  3.Revise se as regras são claras e verificáveis.</a:t>
            </a:r>
          </a:p>
          <a:p>
            <a:pPr defTabSz="355600">
              <a:defRPr>
                <a:solidFill>
                  <a:schemeClr val="accent1">
                    <a:satOff val="-31580"/>
                    <a:lumOff val="-12156"/>
                  </a:schemeClr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  </a:t>
            </a:r>
            <a:r>
              <a:rPr b="1"/>
              <a:t>Entrega:</a:t>
            </a:r>
            <a:r>
              <a:t> tabela com usuários, necessidades e regras de negócio.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80;p17"/>
          <p:cNvSpPr txBox="1"/>
          <p:nvPr>
            <p:ph type="title"/>
          </p:nvPr>
        </p:nvSpPr>
        <p:spPr>
          <a:xfrm>
            <a:off x="324000" y="527500"/>
            <a:ext cx="8473800" cy="432301"/>
          </a:xfrm>
          <a:prstGeom prst="rect">
            <a:avLst/>
          </a:prstGeom>
        </p:spPr>
        <p:txBody>
          <a:bodyPr/>
          <a:lstStyle>
            <a:lvl1pPr defTabSz="585215">
              <a:defRPr sz="1600"/>
            </a:lvl1pPr>
          </a:lstStyle>
          <a:p>
            <a:pPr/>
            <a:r>
              <a:t>Estação 2 - Catálogo de requisitos</a:t>
            </a:r>
          </a:p>
        </p:txBody>
      </p:sp>
      <p:sp>
        <p:nvSpPr>
          <p:cNvPr id="107" name="Google Shape;81;p17"/>
          <p:cNvSpPr txBox="1"/>
          <p:nvPr>
            <p:ph type="body" sz="half" idx="1"/>
          </p:nvPr>
        </p:nvSpPr>
        <p:spPr>
          <a:xfrm>
            <a:off x="323999" y="1344099"/>
            <a:ext cx="6499202" cy="2337902"/>
          </a:xfrm>
          <a:prstGeom prst="rect">
            <a:avLst/>
          </a:prstGeom>
        </p:spPr>
        <p:txBody>
          <a:bodyPr/>
          <a:lstStyle/>
          <a:p>
            <a:pPr marL="457200" indent="-323850">
              <a:buClr>
                <a:srgbClr val="225FA7"/>
              </a:buClr>
              <a:buSzPts val="1500"/>
              <a:buAutoNum type="arabicPeriod" startAt="1"/>
            </a:pPr>
            <a:r>
              <a:t>Consulte a análise da Estação 1.</a:t>
            </a:r>
          </a:p>
          <a:p>
            <a:pPr indent="457200"/>
            <a:r>
              <a:t>2.Registre pelo menos 8 requisitos funcionais e 5 não funcionais.</a:t>
            </a:r>
          </a:p>
          <a:p>
            <a:pPr indent="457200"/>
            <a:r>
              <a:t>3.Atribua um código a cada requisito.</a:t>
            </a:r>
          </a:p>
          <a:p>
            <a:pPr/>
            <a:r>
              <a:t>         4.Crie critérios de aceitação para 2 requisitos funcionais.</a:t>
            </a:r>
          </a:p>
          <a:p>
            <a:pPr/>
            <a:r>
              <a:t>         5.Revise a clareza e publique o catálogo.</a:t>
            </a:r>
          </a:p>
          <a:p>
            <a:pPr/>
            <a:endParaRPr sz="1400"/>
          </a:p>
          <a:p>
            <a:pPr/>
            <a:r>
              <a:rPr b="1"/>
              <a:t>Entrega:</a:t>
            </a:r>
            <a:r>
              <a:t> tabela com código, tipo, descrição e critério de aceitação.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88;p18"/>
          <p:cNvSpPr txBox="1"/>
          <p:nvPr>
            <p:ph type="title"/>
          </p:nvPr>
        </p:nvSpPr>
        <p:spPr>
          <a:xfrm>
            <a:off x="323999" y="323849"/>
            <a:ext cx="5037902" cy="432302"/>
          </a:xfrm>
          <a:prstGeom prst="rect">
            <a:avLst/>
          </a:prstGeom>
        </p:spPr>
        <p:txBody>
          <a:bodyPr/>
          <a:lstStyle>
            <a:lvl1pPr defTabSz="585215">
              <a:defRPr sz="1600"/>
            </a:lvl1pPr>
          </a:lstStyle>
          <a:p>
            <a:pPr/>
            <a:r>
              <a:t>Estação 3 - Qualidade e segurança</a:t>
            </a:r>
          </a:p>
        </p:txBody>
      </p:sp>
      <p:sp>
        <p:nvSpPr>
          <p:cNvPr id="112" name="Google Shape;89;p18"/>
          <p:cNvSpPr txBox="1"/>
          <p:nvPr>
            <p:ph type="body" idx="1"/>
          </p:nvPr>
        </p:nvSpPr>
        <p:spPr>
          <a:xfrm>
            <a:off x="324000" y="910874"/>
            <a:ext cx="5114400" cy="3865802"/>
          </a:xfrm>
          <a:prstGeom prst="rect">
            <a:avLst/>
          </a:prstGeom>
        </p:spPr>
        <p:txBody>
          <a:bodyPr/>
          <a:lstStyle/>
          <a:p>
            <a:pPr marL="457200" indent="-311150">
              <a:buClr>
                <a:srgbClr val="225FA7"/>
              </a:buClr>
              <a:buSzPts val="1300"/>
              <a:buAutoNum type="arabicPeriod" startAt="1"/>
              <a:defRPr sz="1300"/>
            </a:pPr>
            <a:r>
              <a:t>Analise os requisitos fornecidos.</a:t>
            </a:r>
          </a:p>
          <a:p>
            <a:pPr indent="457200"/>
            <a:r>
              <a:rPr sz="1300"/>
              <a:t>2.</a:t>
            </a:r>
            <a:r>
              <a:t>Identifique riscos de qualidade, integridade, usabilidade e segurança.</a:t>
            </a:r>
          </a:p>
          <a:p>
            <a:pPr indent="457200"/>
            <a:r>
              <a:t>3</a:t>
            </a:r>
            <a:r>
              <a:rPr sz="1300"/>
              <a:t>.</a:t>
            </a:r>
            <a:r>
              <a:t>Proponha uma melhoria para cada categoria.</a:t>
            </a:r>
            <a:endParaRPr sz="1300"/>
          </a:p>
          <a:p>
            <a:pPr/>
            <a:r>
              <a:rPr sz="1300"/>
              <a:t>          4.</a:t>
            </a:r>
            <a:r>
              <a:t>Transforme cada melhoria em requisito verificável.</a:t>
            </a:r>
          </a:p>
          <a:p>
            <a:pPr/>
            <a:r>
              <a:t>         </a:t>
            </a:r>
            <a:r>
              <a:rPr sz="1300"/>
              <a:t>5.</a:t>
            </a:r>
            <a:r>
              <a:t>Justifique tecnicamente suas propostas.</a:t>
            </a:r>
          </a:p>
          <a:p>
            <a:pPr/>
            <a:endParaRPr sz="1300"/>
          </a:p>
          <a:p>
            <a:pPr/>
            <a:r>
              <a:rPr b="1"/>
              <a:t>Entrega: </a:t>
            </a:r>
            <a:r>
              <a:t>matriz com categoria, risco, requisito proposto e justificativa.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99;p19"/>
          <p:cNvSpPr txBox="1"/>
          <p:nvPr>
            <p:ph type="title"/>
          </p:nvPr>
        </p:nvSpPr>
        <p:spPr>
          <a:xfrm>
            <a:off x="324000" y="527500"/>
            <a:ext cx="8473800" cy="432301"/>
          </a:xfrm>
          <a:prstGeom prst="rect">
            <a:avLst/>
          </a:prstGeom>
        </p:spPr>
        <p:txBody>
          <a:bodyPr/>
          <a:lstStyle>
            <a:lvl1pPr defTabSz="585215">
              <a:defRPr sz="1600"/>
            </a:lvl1pPr>
          </a:lstStyle>
          <a:p>
            <a:pPr/>
            <a:r>
              <a:t>Estação 4 - Agente de IA como analista Back-End</a:t>
            </a:r>
          </a:p>
        </p:txBody>
      </p:sp>
      <p:sp>
        <p:nvSpPr>
          <p:cNvPr id="117" name="Google Shape;100;p19"/>
          <p:cNvSpPr txBox="1"/>
          <p:nvPr>
            <p:ph type="body" sz="quarter" idx="1"/>
          </p:nvPr>
        </p:nvSpPr>
        <p:spPr>
          <a:xfrm>
            <a:off x="323999" y="1344100"/>
            <a:ext cx="4686601" cy="1759201"/>
          </a:xfrm>
          <a:prstGeom prst="rect">
            <a:avLst/>
          </a:prstGeom>
        </p:spPr>
        <p:txBody>
          <a:bodyPr/>
          <a:lstStyle/>
          <a:p>
            <a:pPr marL="452627" indent="-320611" defTabSz="905255">
              <a:buClr>
                <a:srgbClr val="225FA7"/>
              </a:buClr>
              <a:buSzPts val="1400"/>
              <a:buAutoNum type="arabicPeriod" startAt="1"/>
              <a:defRPr sz="1485"/>
            </a:pPr>
            <a:r>
              <a:t>Crie um prompt com contexto, usuários e regras.</a:t>
            </a:r>
          </a:p>
          <a:p>
            <a:pPr marL="452627" indent="-320611" defTabSz="905255">
              <a:buClr>
                <a:srgbClr val="225FA7"/>
              </a:buClr>
              <a:buSzPts val="1400"/>
              <a:buAutoNum type="arabicPeriod" startAt="1"/>
              <a:defRPr sz="1485"/>
            </a:pPr>
            <a:r>
              <a:t>Solicite RF, RNF e regras de negócio.</a:t>
            </a:r>
            <a:endParaRPr b="1"/>
          </a:p>
          <a:p>
            <a:pPr marL="452627" indent="-320611" defTabSz="905255">
              <a:buClr>
                <a:srgbClr val="225FA7"/>
              </a:buClr>
              <a:buSzPts val="1400"/>
              <a:buAutoNum type="arabicPeriod" startAt="1"/>
              <a:defRPr sz="1485"/>
            </a:pPr>
            <a:r>
              <a:t>Compare com o catálogo do grupo.</a:t>
            </a:r>
          </a:p>
          <a:p>
            <a:pPr marL="452627" indent="-320611" defTabSz="905255">
              <a:buClr>
                <a:srgbClr val="225FA7"/>
              </a:buClr>
              <a:buSzPts val="1400"/>
              <a:buFont typeface="Helvetica"/>
              <a:buChar char="●"/>
              <a:defRPr b="1" sz="1485"/>
            </a:pPr>
            <a:r>
              <a:t>Corrija erros, omissões e invenções.</a:t>
            </a:r>
          </a:p>
          <a:p>
            <a:pPr marL="452627" indent="-320611" defTabSz="905255">
              <a:buClr>
                <a:srgbClr val="225FA7"/>
              </a:buClr>
              <a:buSzPts val="1400"/>
              <a:buFont typeface="Helvetica"/>
              <a:buChar char="●"/>
              <a:defRPr b="1" sz="1485"/>
            </a:pPr>
            <a:r>
              <a:t>Publique prompt, resposta e versão validada.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99;p19"/>
          <p:cNvSpPr txBox="1"/>
          <p:nvPr>
            <p:ph type="title"/>
          </p:nvPr>
        </p:nvSpPr>
        <p:spPr>
          <a:xfrm>
            <a:off x="324000" y="527500"/>
            <a:ext cx="8473800" cy="432301"/>
          </a:xfrm>
          <a:prstGeom prst="rect">
            <a:avLst/>
          </a:prstGeom>
        </p:spPr>
        <p:txBody>
          <a:bodyPr/>
          <a:lstStyle>
            <a:lvl1pPr defTabSz="585215">
              <a:defRPr sz="1600"/>
            </a:lvl1pPr>
          </a:lstStyle>
          <a:p>
            <a:pPr/>
            <a:r>
              <a:t>Estação 5 - Do requisito ao código</a:t>
            </a:r>
          </a:p>
        </p:txBody>
      </p:sp>
      <p:sp>
        <p:nvSpPr>
          <p:cNvPr id="122" name="Google Shape;100;p19"/>
          <p:cNvSpPr txBox="1"/>
          <p:nvPr>
            <p:ph type="body" sz="quarter" idx="1"/>
          </p:nvPr>
        </p:nvSpPr>
        <p:spPr>
          <a:xfrm>
            <a:off x="323999" y="1344100"/>
            <a:ext cx="4686601" cy="1759201"/>
          </a:xfrm>
          <a:prstGeom prst="rect">
            <a:avLst/>
          </a:prstGeom>
        </p:spPr>
        <p:txBody>
          <a:bodyPr/>
          <a:lstStyle/>
          <a:p>
            <a:pPr marL="457200" indent="-323850">
              <a:buClr>
                <a:srgbClr val="225FA7"/>
              </a:buClr>
              <a:buSzPts val="1500"/>
              <a:buAutoNum type="arabicPeriod" startAt="1"/>
            </a:pPr>
            <a:r>
              <a:t>Selecione um requisito funcional.</a:t>
            </a:r>
          </a:p>
          <a:p>
            <a:pPr marL="457200" indent="-323850">
              <a:buClr>
                <a:srgbClr val="225FA7"/>
              </a:buClr>
              <a:buSzPts val="1500"/>
              <a:buAutoNum type="arabicPeriod" startAt="1"/>
            </a:pPr>
            <a:r>
              <a:t>Defina entradas, saídas e regras relacionadas.</a:t>
            </a:r>
            <a:endParaRPr b="1"/>
          </a:p>
          <a:p>
            <a:pPr marL="457200" indent="-323850">
              <a:buClr>
                <a:srgbClr val="225FA7"/>
              </a:buClr>
              <a:buSzPts val="1500"/>
              <a:buAutoNum type="arabicPeriod" startAt="1"/>
            </a:pPr>
            <a:r>
              <a:t>Produza pseudocódigo ou código Back-End.</a:t>
            </a:r>
          </a:p>
          <a:p>
            <a:pPr marL="457200" indent="-323850">
              <a:buClr>
                <a:srgbClr val="225FA7"/>
              </a:buClr>
              <a:buSzPts val="1500"/>
              <a:buFont typeface="Helvetica"/>
              <a:buChar char="●"/>
              <a:defRPr b="1"/>
            </a:pPr>
            <a:r>
              <a:t>Adicione validações e tratamento de erros.</a:t>
            </a:r>
          </a:p>
          <a:p>
            <a:pPr marL="457200" indent="-323850">
              <a:buClr>
                <a:srgbClr val="225FA7"/>
              </a:buClr>
              <a:buSzPts val="1500"/>
              <a:buFont typeface="Helvetica"/>
              <a:buChar char="●"/>
              <a:defRPr b="1"/>
            </a:pPr>
            <a:r>
              <a:t>Teste e registre o resultado.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07;p20" descr="Google Shape;107;p20"/>
          <p:cNvPicPr>
            <a:picLocks noChangeAspect="1"/>
          </p:cNvPicPr>
          <p:nvPr/>
        </p:nvPicPr>
        <p:blipFill>
          <a:blip r:embed="rId4">
            <a:extLst/>
          </a:blip>
          <a:srcRect l="17995" t="13833" r="19974" b="12311"/>
          <a:stretch>
            <a:fillRect/>
          </a:stretch>
        </p:blipFill>
        <p:spPr>
          <a:xfrm>
            <a:off x="1052274" y="398400"/>
            <a:ext cx="3083426" cy="45903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Google Shape;108;p20"/>
          <p:cNvSpPr txBox="1"/>
          <p:nvPr/>
        </p:nvSpPr>
        <p:spPr>
          <a:xfrm>
            <a:off x="3939314" y="349102"/>
            <a:ext cx="4536601" cy="1452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</a:lstStyle>
          <a:p>
            <a:pPr/>
            <a:r>
              <a:t>Registros da aprendizagem</a:t>
            </a:r>
          </a:p>
        </p:txBody>
      </p:sp>
      <p:pic>
        <p:nvPicPr>
          <p:cNvPr id="128" name="mural.png" descr="mural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57204" y="1840645"/>
            <a:ext cx="3083323" cy="308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LAB 36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LAB 365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LAB 36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LAB 365">
  <a:themeElements>
    <a:clrScheme name="LAB 36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LAB 365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LAB 36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
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elaborado para a Atividade Avaliativa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curricular: Itinerário do Curso Técnico em Desenvolvimento de Sistemas Presencial, UC Modelagem de Sistemas, pp. 49–51. Fonte metodológica: Mentoria Pedagógica 2, Estações por Rotação.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E4E5306-4398-4ED6-85D3-75794032619A}"/>
              </a:ext>
            </a:extLst>
          </p:cNvPr>
          <p:cNvSpPr>
            <a:spLocks noGrp="1"/>
          </p:cNvSpPr>
          <p:nvPr/>
        </p:nvSpPr>
        <p:spPr>
          <a:xfrm>
            <a:off x="666750" y="7620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ATIVIDADE AVALIATIVA 2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CC91389-9469-4803-85FE-AFA3821B06C7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99060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Busca inteligente</a:t>
            </a:r>
          </a:p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para um acervo escolar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70B958-EAFD-49A6-82E8-85F846E8BDCE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8001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BCE8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BCE8E8"/>
                </a:solidFill>
                <a:latin typeface="Bitstream Charter"/>
                <a:ea typeface="Bitstream Charter"/>
                <a:cs typeface="Bitstream Charter"/>
              </a:rPr>
              <a:t>Banco de dados vetorial e Inteligência Artificial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04EEF5-1D49-41D4-88C0-55BDAAEA9830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476500" cy="4191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Plano de aula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E2A061E-B3AC-42CC-AC2E-120826175826}"/>
              </a:ext>
            </a:extLst>
          </p:cNvPr>
          <p:cNvSpPr>
            <a:spLocks noGrp="1"/>
          </p:cNvSpPr>
          <p:nvPr/>
        </p:nvSpPr>
        <p:spPr>
          <a:xfrm>
            <a:off x="3333750" y="4333875"/>
            <a:ext cx="3333750" cy="41910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Rotação por Estações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C460B8-E189-4F06-A3FC-9ABA7F9A3F1B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CFD9E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CFD9E3"/>
                </a:solidFill>
                <a:latin typeface="Bitstream Charter"/>
                <a:ea typeface="Bitstream Charter"/>
                <a:cs typeface="Bitstream Charter"/>
              </a:rPr>
              <a:t>Modelagem de Sistemas   •   Técnico em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1629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6A89F3B-4E0D-4C28-868C-DDDF16852420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CONTEXTO DA AULA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9D1AAE6-1E26-4743-BF2E-278CDCF8E845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Situação-problema BuscaSaber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3B0C26-3D4A-4309-858B-EDF443E36C9B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2F66F6D-247A-48BD-98C5-978A1DF5C1A8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CDFE14A-0C56-4433-94A8-5F341083CF56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6572250" cy="1524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 escola possui apostilas, regulamentos, planos de curso e materiais didáticos digitais. A busca atual depende do nome do arquivo ou de palavras exatas.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D02779E-F717-4729-8CC7-CAF2243B39BC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6572250" cy="1095375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 proposta é modelar um sistema que receba perguntas em linguagem natural e localize trechos semanticamente relacionados.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22717F-E0E2-44ED-B392-013547EDDC91}"/>
              </a:ext>
            </a:extLst>
          </p:cNvPr>
          <p:cNvSpPr>
            <a:spLocks noGrp="1"/>
          </p:cNvSpPr>
          <p:nvPr/>
        </p:nvSpPr>
        <p:spPr>
          <a:xfrm>
            <a:off x="7715250" y="1428750"/>
            <a:ext cx="3714750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Pergunta de exemplo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52FAE08-E95B-4FB7-A04E-7348E28DF1B9}"/>
              </a:ext>
            </a:extLst>
          </p:cNvPr>
          <p:cNvSpPr>
            <a:spLocks noGrp="1"/>
          </p:cNvSpPr>
          <p:nvPr/>
        </p:nvSpPr>
        <p:spPr>
          <a:xfrm>
            <a:off x="7715250" y="1952625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“Quais materiais explicam modelagem de banco de dados para iniciantes?”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9B9F80-C1D9-4BDB-AF53-2B2C6AD45FFB}"/>
              </a:ext>
            </a:extLst>
          </p:cNvPr>
          <p:cNvSpPr>
            <a:spLocks noGrp="1"/>
          </p:cNvSpPr>
          <p:nvPr/>
        </p:nvSpPr>
        <p:spPr>
          <a:xfrm>
            <a:off x="7715250" y="3714750"/>
            <a:ext cx="3714750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Os resultados devem apresentar título, trecho e fonte, respeitando as permissões do usuário.</a:t>
            </a:r>
          </a:p>
        </p:txBody>
      </p:sp>
    </p:spTree>
    <p:extLst>
      <p:ext uri="{BB962C8B-B14F-4D97-AF65-F5344CB8AC3E}">
        <p14:creationId xmlns:p14="http://schemas.microsoft.com/office/powerpoint/2010/main" val="62808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4C821C8-2B69-4EC0-9443-5692A90F8F1D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ALINHAMENTO CURRICULAR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2CD211A-B226-4955-AC0D-2B38F3568698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Objetivos e capacidades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FA7A2FB-568D-4794-BA27-2279B91C816E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E4801F-6B44-4C84-9E07-2BE373ED5864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AE01DF-63EB-4AA4-8E2C-9A1F978DEBE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400050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Capacidades técnicas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F913DD-1354-4056-A02E-9FA6CD752DDE}"/>
              </a:ext>
            </a:extLst>
          </p:cNvPr>
          <p:cNvSpPr>
            <a:spLocks noGrp="1"/>
          </p:cNvSpPr>
          <p:nvPr/>
        </p:nvSpPr>
        <p:spPr>
          <a:xfrm>
            <a:off x="685800" y="18764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E28DF86-FB45-4395-8E01-FDFDFBBF4AB6}"/>
              </a:ext>
            </a:extLst>
          </p:cNvPr>
          <p:cNvSpPr>
            <a:spLocks noGrp="1"/>
          </p:cNvSpPr>
          <p:nvPr/>
        </p:nvSpPr>
        <p:spPr>
          <a:xfrm>
            <a:off x="952500" y="18764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Modelar requisitos com linguagem de programação.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F5BEB9D-129B-4B90-86E5-C79E010E48DB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846A4F-F087-47BC-8C29-D3CFF9D7420C}"/>
              </a:ext>
            </a:extLst>
          </p:cNvPr>
          <p:cNvSpPr>
            <a:spLocks noGrp="1"/>
          </p:cNvSpPr>
          <p:nvPr/>
        </p:nvSpPr>
        <p:spPr>
          <a:xfrm>
            <a:off x="952500" y="25146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Identificar requisitos funcionais e não funcionais.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64B3B10-E6B6-4167-9581-9BE982052EE8}"/>
              </a:ext>
            </a:extLst>
          </p:cNvPr>
          <p:cNvSpPr>
            <a:spLocks noGrp="1"/>
          </p:cNvSpPr>
          <p:nvPr/>
        </p:nvSpPr>
        <p:spPr>
          <a:xfrm>
            <a:off x="685800" y="31527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586D53F-9CBC-4213-9566-D330E5B63060}"/>
              </a:ext>
            </a:extLst>
          </p:cNvPr>
          <p:cNvSpPr>
            <a:spLocks noGrp="1"/>
          </p:cNvSpPr>
          <p:nvPr/>
        </p:nvSpPr>
        <p:spPr>
          <a:xfrm>
            <a:off x="952500" y="315277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252"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Reconhecer qualidade, integridade, usabilidade e segurança.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681F85-C9C6-4B11-BCA7-006A90281BFD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514350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Ao final da aula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54C2BF-0123-46E8-A266-E5F20EC64242}"/>
              </a:ext>
            </a:extLst>
          </p:cNvPr>
          <p:cNvSpPr>
            <a:spLocks noGrp="1"/>
          </p:cNvSpPr>
          <p:nvPr/>
        </p:nvSpPr>
        <p:spPr>
          <a:xfrm>
            <a:off x="6381750" y="18764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11BE65F-3BD4-4B75-95FD-8F665A4ADF65}"/>
              </a:ext>
            </a:extLst>
          </p:cNvPr>
          <p:cNvSpPr>
            <a:spLocks noGrp="1"/>
          </p:cNvSpPr>
          <p:nvPr/>
        </p:nvSpPr>
        <p:spPr>
          <a:xfrm>
            <a:off x="6648450" y="1876425"/>
            <a:ext cx="4686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Interpretar necessidades dos usuários.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9A41402-A1CD-4C72-AED1-D506D69690F9}"/>
              </a:ext>
            </a:extLst>
          </p:cNvPr>
          <p:cNvSpPr>
            <a:spLocks noGrp="1"/>
          </p:cNvSpPr>
          <p:nvPr/>
        </p:nvSpPr>
        <p:spPr>
          <a:xfrm>
            <a:off x="6381750" y="25146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64CCCEA-986E-402A-9C22-7B13B6A5F459}"/>
              </a:ext>
            </a:extLst>
          </p:cNvPr>
          <p:cNvSpPr>
            <a:spLocks noGrp="1"/>
          </p:cNvSpPr>
          <p:nvPr/>
        </p:nvSpPr>
        <p:spPr>
          <a:xfrm>
            <a:off x="6648450" y="2514600"/>
            <a:ext cx="4686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Explicar a finalidade da busca vetorial.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A010BD-363F-4A66-9BF1-56EB9FD84B43}"/>
              </a:ext>
            </a:extLst>
          </p:cNvPr>
          <p:cNvSpPr>
            <a:spLocks noGrp="1"/>
          </p:cNvSpPr>
          <p:nvPr/>
        </p:nvSpPr>
        <p:spPr>
          <a:xfrm>
            <a:off x="6381750" y="31527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85D3E18-6AB7-46E7-AF36-C9389DB51954}"/>
              </a:ext>
            </a:extLst>
          </p:cNvPr>
          <p:cNvSpPr>
            <a:spLocks noGrp="1"/>
          </p:cNvSpPr>
          <p:nvPr/>
        </p:nvSpPr>
        <p:spPr>
          <a:xfrm>
            <a:off x="6648450" y="3152775"/>
            <a:ext cx="4686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Justificar uma arquitetura de armazenamento.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772DC6A-F60A-4932-AC8A-0A6CA6BF8AF3}"/>
              </a:ext>
            </a:extLst>
          </p:cNvPr>
          <p:cNvSpPr>
            <a:spLocks noGrp="1"/>
          </p:cNvSpPr>
          <p:nvPr/>
        </p:nvSpPr>
        <p:spPr>
          <a:xfrm>
            <a:off x="6381750" y="37909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1EA91DB-A946-4455-A287-CF1662A7224B}"/>
              </a:ext>
            </a:extLst>
          </p:cNvPr>
          <p:cNvSpPr>
            <a:spLocks noGrp="1"/>
          </p:cNvSpPr>
          <p:nvPr/>
        </p:nvSpPr>
        <p:spPr>
          <a:xfrm>
            <a:off x="6648450" y="3790950"/>
            <a:ext cx="4686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Representar o fluxo por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1208179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B9B245FF-F087-4877-815D-AC19AC697B6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ANTES DA ROTAÇÃO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8A1CF19-ECF8-479D-B89A-A500D00B2D15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Conceitos necessários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C299D78-8FE6-420F-BA5E-9A214F3DB4DB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2EED5C-2B85-4554-BB93-0BA6114B2042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9AEDAA-03A2-48E1-880B-A61DD7A902F8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por palavra-chave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89EFD1-A0D5-4065-B1C4-4AF962468B17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Localiza correspondências literais. Funciona bem quando o usuário conhece os termos usados no documento.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C61F8FA-4D57-4591-A8D3-A185395F39E1}"/>
              </a:ext>
            </a:extLst>
          </p:cNvPr>
          <p:cNvSpPr>
            <a:spLocks noGrp="1"/>
          </p:cNvSpPr>
          <p:nvPr/>
        </p:nvSpPr>
        <p:spPr>
          <a:xfrm>
            <a:off x="6286500" y="1428750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semântica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566B7C-8DB6-4275-B43A-950290D87D2F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Compara significados representados numericamente e pode localizar conteúdos relacionados mesmo com palavras diferentes.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6508871-973D-4AB8-8A1E-98DBA9869947}"/>
              </a:ext>
            </a:extLst>
          </p:cNvPr>
          <p:cNvSpPr>
            <a:spLocks noGrp="1"/>
          </p:cNvSpPr>
          <p:nvPr/>
        </p:nvSpPr>
        <p:spPr>
          <a:xfrm>
            <a:off x="590550" y="357187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Embedding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704CC2-FB8D-484D-A3C9-275C79A509BE}"/>
              </a:ext>
            </a:extLst>
          </p:cNvPr>
          <p:cNvSpPr>
            <a:spLocks noGrp="1"/>
          </p:cNvSpPr>
          <p:nvPr/>
        </p:nvSpPr>
        <p:spPr>
          <a:xfrm>
            <a:off x="590550" y="4143375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Representação numérica de um texto, usada para calcular similaridade entre a pergunta e os documentos.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1626BD6-AD5F-44D2-9F89-50819422C4B9}"/>
              </a:ext>
            </a:extLst>
          </p:cNvPr>
          <p:cNvSpPr>
            <a:spLocks noGrp="1"/>
          </p:cNvSpPr>
          <p:nvPr/>
        </p:nvSpPr>
        <p:spPr>
          <a:xfrm>
            <a:off x="6286500" y="357187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Banco de dados vetorial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0587C91-D487-4E5A-A7FD-CAF180F97019}"/>
              </a:ext>
            </a:extLst>
          </p:cNvPr>
          <p:cNvSpPr>
            <a:spLocks noGrp="1"/>
          </p:cNvSpPr>
          <p:nvPr/>
        </p:nvSpPr>
        <p:spPr>
          <a:xfrm>
            <a:off x="6286500" y="4143375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Armazena e pesquisa vetores com eficiência. Os arquivos originais e os dados administrativos continuam exigindo armazenamento adequado.</a:t>
            </a:r>
          </a:p>
        </p:txBody>
      </p:sp>
    </p:spTree>
    <p:extLst>
      <p:ext uri="{BB962C8B-B14F-4D97-AF65-F5344CB8AC3E}">
        <p14:creationId xmlns:p14="http://schemas.microsoft.com/office/powerpoint/2010/main" val="112804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140705B4-34AD-4CF6-9E4A-37E75336909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ORIENTAÇÃO À TURMA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73E7A4-E26A-4A1A-94DD-98C5F0284C57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Como funcionará a rotação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ABA65F-30B6-4A1F-9F41-88BD4BA02F84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FB173E3-614C-42FD-B51D-CB7211FC4679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A82D3AC-7744-4B30-AD2A-4118511A13A5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0952"/>
          </a:bodyPr>
          <a:lstStyle/>
          <a:p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3508262-716B-4644-800A-6205783F0AF7}"/>
              </a:ext>
            </a:extLst>
          </p:cNvPr>
          <p:cNvSpPr>
            <a:spLocks noGrp="1"/>
          </p:cNvSpPr>
          <p:nvPr/>
        </p:nvSpPr>
        <p:spPr>
          <a:xfrm>
            <a:off x="981075" y="1476375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Formem equipes de quatro ou cinco integrantes.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DBE5F93-D6A4-4E5D-B116-F772925B32BE}"/>
              </a:ext>
            </a:extLst>
          </p:cNvPr>
          <p:cNvSpPr>
            <a:spLocks noGrp="1"/>
          </p:cNvSpPr>
          <p:nvPr/>
        </p:nvSpPr>
        <p:spPr>
          <a:xfrm>
            <a:off x="714375" y="22002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0952"/>
          </a:bodyPr>
          <a:lstStyle/>
          <a:p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D059688-7603-45B8-A01C-FCF0035D55C1}"/>
              </a:ext>
            </a:extLst>
          </p:cNvPr>
          <p:cNvSpPr>
            <a:spLocks noGrp="1"/>
          </p:cNvSpPr>
          <p:nvPr/>
        </p:nvSpPr>
        <p:spPr>
          <a:xfrm>
            <a:off x="981075" y="2200275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Distribuam os papéis de gestão do tempo, análise, revisão, registro e apresentação.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4A1672-556E-4F3D-AE33-870C9400938D}"/>
              </a:ext>
            </a:extLst>
          </p:cNvPr>
          <p:cNvSpPr>
            <a:spLocks noGrp="1"/>
          </p:cNvSpPr>
          <p:nvPr/>
        </p:nvSpPr>
        <p:spPr>
          <a:xfrm>
            <a:off x="714375" y="29241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0952"/>
          </a:bodyPr>
          <a:lstStyle/>
          <a:p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A169EE2-A4F4-472A-9E73-5FBE9A3230C4}"/>
              </a:ext>
            </a:extLst>
          </p:cNvPr>
          <p:cNvSpPr>
            <a:spLocks noGrp="1"/>
          </p:cNvSpPr>
          <p:nvPr/>
        </p:nvSpPr>
        <p:spPr>
          <a:xfrm>
            <a:off x="981075" y="2924175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Permaneçam 30 minutos em cada estação.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1622B8-121C-4989-AD00-B7C665FCDA5D}"/>
              </a:ext>
            </a:extLst>
          </p:cNvPr>
          <p:cNvSpPr>
            <a:spLocks noGrp="1"/>
          </p:cNvSpPr>
          <p:nvPr/>
        </p:nvSpPr>
        <p:spPr>
          <a:xfrm>
            <a:off x="714375" y="36480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0952"/>
          </a:bodyPr>
          <a:lstStyle/>
          <a:p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C5763B-7C77-4893-9469-E5D3CCFA1223}"/>
              </a:ext>
            </a:extLst>
          </p:cNvPr>
          <p:cNvSpPr>
            <a:spLocks noGrp="1"/>
          </p:cNvSpPr>
          <p:nvPr/>
        </p:nvSpPr>
        <p:spPr>
          <a:xfrm>
            <a:off x="981075" y="3648075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Publiquem a evidência antes do sinal e avancem em sentido crescente.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267327-F240-4D4E-854F-6C47113903D8}"/>
              </a:ext>
            </a:extLst>
          </p:cNvPr>
          <p:cNvSpPr>
            <a:spLocks noGrp="1"/>
          </p:cNvSpPr>
          <p:nvPr/>
        </p:nvSpPr>
        <p:spPr>
          <a:xfrm>
            <a:off x="714375" y="43719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0952"/>
          </a:bodyPr>
          <a:lstStyle/>
          <a:p>
            <a:pPr algn="l">
              <a:def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BAE2A20-07D7-45A5-93C3-437D7CB8B112}"/>
              </a:ext>
            </a:extLst>
          </p:cNvPr>
          <p:cNvSpPr>
            <a:spLocks noGrp="1"/>
          </p:cNvSpPr>
          <p:nvPr/>
        </p:nvSpPr>
        <p:spPr>
          <a:xfrm>
            <a:off x="981075" y="4371975"/>
            <a:ext cx="9734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Todas as estações usam o mesmo briefing e podem ser realizadas em qualquer ordem.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C34F03C-F8AD-4794-91E8-CDE6D3DBD49D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001250" cy="514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Ao final, reuniremos as cinco evidências em uma proposta única para o BuscaSaber.</a:t>
            </a:r>
          </a:p>
        </p:txBody>
      </p:sp>
    </p:spTree>
    <p:extLst>
      <p:ext uri="{BB962C8B-B14F-4D97-AF65-F5344CB8AC3E}">
        <p14:creationId xmlns:p14="http://schemas.microsoft.com/office/powerpoint/2010/main" val="47606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7E47C2CD-47FA-4FF3-A3EA-255A2968C24A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CINCO ESTAÇÕES INDEPENDENTES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E95EE34-64F2-41E3-A9F0-E391D96A54A5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Roteiro da prática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F8DD97A-EE27-43DE-BABB-B9CFE7143452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0696B3-5A67-4BC1-ABA3-631F07D985D6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15A7576-5008-4D82-A7A5-69BE994E2486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552450" cy="5524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C2F286-564F-405D-8477-1FD909F8576A}"/>
              </a:ext>
            </a:extLst>
          </p:cNvPr>
          <p:cNvSpPr>
            <a:spLocks noGrp="1"/>
          </p:cNvSpPr>
          <p:nvPr/>
        </p:nvSpPr>
        <p:spPr>
          <a:xfrm>
            <a:off x="1524000" y="14287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Usuários e necessidades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C3B7E9-B476-4CFA-8406-055D3CAF35AE}"/>
              </a:ext>
            </a:extLst>
          </p:cNvPr>
          <p:cNvSpPr>
            <a:spLocks noGrp="1"/>
          </p:cNvSpPr>
          <p:nvPr/>
        </p:nvSpPr>
        <p:spPr>
          <a:xfrm>
            <a:off x="8572500" y="142875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5D3AC8B-2CDA-4A97-B6D5-B4CA78446AA2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552450" cy="5524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9D7565B-B1F4-45CB-B02D-BB96BBC14892}"/>
              </a:ext>
            </a:extLst>
          </p:cNvPr>
          <p:cNvSpPr>
            <a:spLocks noGrp="1"/>
          </p:cNvSpPr>
          <p:nvPr/>
        </p:nvSpPr>
        <p:spPr>
          <a:xfrm>
            <a:off x="1524000" y="232410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Catálogo de requisitos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A869BA6-0394-49E0-9456-782FE4BCC311}"/>
              </a:ext>
            </a:extLst>
          </p:cNvPr>
          <p:cNvSpPr>
            <a:spLocks noGrp="1"/>
          </p:cNvSpPr>
          <p:nvPr/>
        </p:nvSpPr>
        <p:spPr>
          <a:xfrm>
            <a:off x="8572500" y="23241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0EF7934-F124-44FB-9090-F3C66A56C994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552450" cy="5524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E47686B-3090-48FA-BDC9-7DCD4E93D817}"/>
              </a:ext>
            </a:extLst>
          </p:cNvPr>
          <p:cNvSpPr>
            <a:spLocks noGrp="1"/>
          </p:cNvSpPr>
          <p:nvPr/>
        </p:nvSpPr>
        <p:spPr>
          <a:xfrm>
            <a:off x="1524000" y="32194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Busca textual e vetorial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ADB0B4B-9CF3-4BFC-8CEF-66DE66A02467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3004859-067B-481B-94AE-33F5ED5AB661}"/>
              </a:ext>
            </a:extLst>
          </p:cNvPr>
          <p:cNvSpPr>
            <a:spLocks noGrp="1"/>
          </p:cNvSpPr>
          <p:nvPr/>
        </p:nvSpPr>
        <p:spPr>
          <a:xfrm>
            <a:off x="762000" y="4114800"/>
            <a:ext cx="552450" cy="5524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E44A35A-FD95-4FCD-9DE3-8F5392CCC013}"/>
              </a:ext>
            </a:extLst>
          </p:cNvPr>
          <p:cNvSpPr>
            <a:spLocks noGrp="1"/>
          </p:cNvSpPr>
          <p:nvPr/>
        </p:nvSpPr>
        <p:spPr>
          <a:xfrm>
            <a:off x="1524000" y="411480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Qualidade e segurança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D0A7BFC-DE5F-4F31-93C7-DF84C7D357BC}"/>
              </a:ext>
            </a:extLst>
          </p:cNvPr>
          <p:cNvSpPr>
            <a:spLocks noGrp="1"/>
          </p:cNvSpPr>
          <p:nvPr/>
        </p:nvSpPr>
        <p:spPr>
          <a:xfrm>
            <a:off x="8572500" y="41148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D73772E-0571-4F2F-B576-162621016B50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552450" cy="5524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53F8A09-1783-4A5E-B5F3-E28F80FF8B0B}"/>
              </a:ext>
            </a:extLst>
          </p:cNvPr>
          <p:cNvSpPr>
            <a:spLocks noGrp="1"/>
          </p:cNvSpPr>
          <p:nvPr/>
        </p:nvSpPr>
        <p:spPr>
          <a:xfrm>
            <a:off x="1524000" y="50101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Fluxo da busca inteligente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77CE7C0-D820-48D6-AF9D-2B4B8DF159AB}"/>
              </a:ext>
            </a:extLst>
          </p:cNvPr>
          <p:cNvSpPr>
            <a:spLocks noGrp="1"/>
          </p:cNvSpPr>
          <p:nvPr/>
        </p:nvSpPr>
        <p:spPr>
          <a:xfrm>
            <a:off x="8572500" y="501015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30 minutos</a:t>
            </a:r>
          </a:p>
        </p:txBody>
      </p:sp>
    </p:spTree>
    <p:extLst>
      <p:ext uri="{BB962C8B-B14F-4D97-AF65-F5344CB8AC3E}">
        <p14:creationId xmlns:p14="http://schemas.microsoft.com/office/powerpoint/2010/main" val="228289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446CC357-215F-406B-A47C-A0D081DA34B1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5BF5B3-059E-4FCF-818C-904287145EBA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1 Usuários e necessidades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511B12-36E4-4A2C-B837-47E9429B921F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96A284-7DBA-4234-8FA0-6239C89D5A16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946518-2B83-40F7-8AF0-E251347F8E1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190625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87665F-B6E6-4598-9A4F-9194E12A3C0A}"/>
              </a:ext>
            </a:extLst>
          </p:cNvPr>
          <p:cNvSpPr>
            <a:spLocks noGrp="1"/>
          </p:cNvSpPr>
          <p:nvPr/>
        </p:nvSpPr>
        <p:spPr>
          <a:xfrm>
            <a:off x="1924050" y="13335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Interpretar o briefing e reconhecer usuários, necessidades e regras de negócio.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61554CE-8DB9-4F0E-AC51-036C63C63440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190625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C14B52-981B-444B-95E4-12D158D2B34F}"/>
              </a:ext>
            </a:extLst>
          </p:cNvPr>
          <p:cNvSpPr>
            <a:spLocks noGrp="1"/>
          </p:cNvSpPr>
          <p:nvPr/>
        </p:nvSpPr>
        <p:spPr>
          <a:xfrm>
            <a:off x="1924050" y="1866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Compreender o problema antes de propor a solução.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342092B-201E-43DC-AAB1-3E6E15515AB8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857375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12DA50B-BDAF-4C62-B784-853DA031FF41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80BC5FA-0F57-48F6-9B44-64AF0BC2BB41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Identifique os perfis de usuário.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EA0390D-81E2-461D-86AA-8757CD1596B0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A957485-5D88-421F-8ADA-5B5DE0D5192F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duas necessidades de cada perfil.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1E5FB3-63E7-465A-BC7F-1686A2FD760B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D5305AF-BB5A-43F3-9943-F0821C7A530C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Crie três histórias de usuário.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577A7BE-1C4B-49EA-A5F1-44A7F9FF6EAC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F7BE541-644E-47E2-84B1-628FAF5A9D25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Elabore quatro regras de negócio.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889B85D-A34B-4DDC-B7A7-42A64BCED9B1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5A022BB-BB68-4B3C-B76B-16B73281AA51}"/>
              </a:ext>
            </a:extLst>
          </p:cNvPr>
          <p:cNvSpPr>
            <a:spLocks noGrp="1"/>
          </p:cNvSpPr>
          <p:nvPr/>
        </p:nvSpPr>
        <p:spPr>
          <a:xfrm>
            <a:off x="1123950" y="46577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Revise e publique a produção.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3938E7-B3F9-4DAF-9A84-E764825C32FE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619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55052AA-8D21-49AE-A71E-DC5CE16AE9D4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3905250" cy="895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Quadro com perfis, necessidades, histórias de usuário e regras de negócio.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B92C9AC-C048-41F2-AF49-245D5DBF2321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1619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34B77BC-9194-4E09-A62B-BBEABBE73900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Briefing BuscaSaber, modelo de quadro, editor de texto e plataforma de registro.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3CA8D55-A4A2-4A7A-9D29-EC6866A8A3AF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1688755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66D103A-F1BF-4594-86B5-4C346CA362DE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B920E30-D4B7-4C12-BB65-D978A2879B38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2 Catálogo de requisitos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9D6D32-5EF4-47A0-A83D-422076AECF26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CE41024-08C5-47A5-912C-5ED1CD81D71F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0CC06AF-48B2-400F-B201-A13DFB3F5381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190625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52274A-40D9-4E6E-BA25-D08D53EAE90D}"/>
              </a:ext>
            </a:extLst>
          </p:cNvPr>
          <p:cNvSpPr>
            <a:spLocks noGrp="1"/>
          </p:cNvSpPr>
          <p:nvPr/>
        </p:nvSpPr>
        <p:spPr>
          <a:xfrm>
            <a:off x="1924050" y="13335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Diferenciar requisitos funcionais e não funcionais e redigi-los de forma verificável.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5131D5-7A94-4451-9AC8-AF93B750086C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190625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359D20-CC6D-4869-A6A1-C72F00618E88}"/>
              </a:ext>
            </a:extLst>
          </p:cNvPr>
          <p:cNvSpPr>
            <a:spLocks noGrp="1"/>
          </p:cNvSpPr>
          <p:nvPr/>
        </p:nvSpPr>
        <p:spPr>
          <a:xfrm>
            <a:off x="1924050" y="1866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Revisar requisitos incompletos e ambíguos.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0F0453-C33C-4CBF-8A76-F891C3D5B70E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857375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A2BF55E-9860-4C5D-AFE4-138564611CEA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4DBCCB6-EDB7-4EF4-A8BA-29ACC248D184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Classifique os cartões recebidos.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591C8F-247C-4EED-ACD3-6404467BE86A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80B374F-8CF0-4A8F-B51F-4FAF78CD7D50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Corrija enunciados ambíguos.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74D8E0B-2E90-486F-92D7-A8FA90BC2D99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7EB8AC8-4779-438C-AADA-22AA42F3F3F9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seis RF e quatro RNF.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F876A8-6BBC-4C27-9A80-5F08618CCEE2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3FE0110-A404-4B12-BB85-171EB192A617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Codifique cada requisito.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66F31B4-3C84-4B9F-9160-F6DDEE8AEB7A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1425BB9-A13D-4897-B229-1B5441C33D14}"/>
              </a:ext>
            </a:extLst>
          </p:cNvPr>
          <p:cNvSpPr>
            <a:spLocks noGrp="1"/>
          </p:cNvSpPr>
          <p:nvPr/>
        </p:nvSpPr>
        <p:spPr>
          <a:xfrm>
            <a:off x="1123950" y="46577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Crie critérios de aceitação para dois RF.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9680837-2AB7-4B38-B0EC-B3AF8166F271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619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7E83A8A-7895-4C91-9A7B-79EABF35AF9A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3905250" cy="895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Catálogo com código, tipo, descrição e critérios de aceitação.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180D969-92A2-4B76-8D6A-D872E9A1FA09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1619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0B26F36-4BD3-40D0-A87B-F31D58B88BF3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Cartões de requisitos, modelo de catálogo, editor de texto e plataforma de registro.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759A763-5A4C-4B29-82B1-910DBB77D6C0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81840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DD06DCB4-BAEB-4E7B-AFE4-92CDC9A8B863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CE53086-F0BC-4392-897A-FC4B27ADE8ED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3 Busca textual e vetorial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66FD8E6-C0CE-4DA2-B4C8-407A554EE183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82ABA0-F1A1-40C4-85F8-C639DD7F1D9F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87055A4-867C-4FE0-AB8E-47E8BA42DD32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190625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312A1A7-681C-4A6B-A0A7-5483454AE1E2}"/>
              </a:ext>
            </a:extLst>
          </p:cNvPr>
          <p:cNvSpPr>
            <a:spLocks noGrp="1"/>
          </p:cNvSpPr>
          <p:nvPr/>
        </p:nvSpPr>
        <p:spPr>
          <a:xfrm>
            <a:off x="1924050" y="13335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Comparar busca tradicional e busca semântica e justificar uma arquitetura.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81A51F-D42B-4C6B-BA46-657F47127A62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190625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4037A59-A597-4D2C-9E65-DD4FA073C045}"/>
              </a:ext>
            </a:extLst>
          </p:cNvPr>
          <p:cNvSpPr>
            <a:spLocks noGrp="1"/>
          </p:cNvSpPr>
          <p:nvPr/>
        </p:nvSpPr>
        <p:spPr>
          <a:xfrm>
            <a:off x="1924050" y="1866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Escolher como armazenar e recuperar as informações do BuscaSaber.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0236378-C515-41FC-9348-34F5286C9EB3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857375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50C11F-4609-4EC1-AE8C-2E16F206055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D99AC10-8FA7-4566-8E4E-1C55EA54D5FD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Analise os exemplos de pesquisas.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944D13A-ADAB-41CB-88B0-CCDF02762109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A577696-E95D-41F4-8B50-ECAA941A04A1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Compare palavras exatas e significado.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50305A8-1BC7-475C-B2C7-A8A00820DC30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CB32CEC-CFEC-45C8-9891-484713A22F31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Relacione embeddings à busca.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8CCE15-EE74-421F-B050-F7488403197D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C79E060-4C87-4B7A-B100-5AF25A95CCFC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Separe dados, documentos e vetores.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FFED91C-08E4-4F4F-96AE-423891CC1CDD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F6EB4C6-43D1-4DF2-BF14-9EB7C03F3264}"/>
              </a:ext>
            </a:extLst>
          </p:cNvPr>
          <p:cNvSpPr>
            <a:spLocks noGrp="1"/>
          </p:cNvSpPr>
          <p:nvPr/>
        </p:nvSpPr>
        <p:spPr>
          <a:xfrm>
            <a:off x="1123950" y="46577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Registre e justifique a arquitetura.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EE6D50A-B3B1-4998-84D5-CC0EA6DC746C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619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340315E-9893-4D10-9D4A-15E43B1A771B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3905250" cy="895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Quadro com tipo de dado, armazenamento, mecanismo de busca e justificativa.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9F5A541-DFCA-4D78-8188-D0A14869E6B2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1619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0929C4F-50AD-45C6-8D72-E967016A4A27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Exemplos de consultas, cartões de dados, texto sobre embeddings e plataforma de registro.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406CAE7-4533-4DC7-B744-289FA756DC38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43734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7168AA00-A3AA-4004-9FCC-E578A9E0238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335428D-DE6D-4F67-9A80-F1DF80F70058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4 Qualidade e segurança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85798E-5A6C-41E1-873B-47777968B66A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1093250-94A1-4678-9E1B-EFB406967322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819B93-854E-4A2F-B922-86A2EA43363D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190625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495DAE6-AEB2-470F-AB99-8F0189A56279}"/>
              </a:ext>
            </a:extLst>
          </p:cNvPr>
          <p:cNvSpPr>
            <a:spLocks noGrp="1"/>
          </p:cNvSpPr>
          <p:nvPr/>
        </p:nvSpPr>
        <p:spPr>
          <a:xfrm>
            <a:off x="1924050" y="13335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Identificar riscos e convertê-los em requisitos não funcionais verificáveis.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A0FDA0-9487-4948-9735-8AF8DB90163E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190625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0A92185-CADC-434A-802C-E273284B10A7}"/>
              </a:ext>
            </a:extLst>
          </p:cNvPr>
          <p:cNvSpPr>
            <a:spLocks noGrp="1"/>
          </p:cNvSpPr>
          <p:nvPr/>
        </p:nvSpPr>
        <p:spPr>
          <a:xfrm>
            <a:off x="1924050" y="1866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Fortalecer uma especificação com riscos de acesso e respostas sem fonte.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0E44946-5CD7-4595-96B7-EC543AC49B77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857375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ACCF60D-9C5C-45A9-861A-614D90925E4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F0553C-FB92-4867-9100-FF8D35CBA3D0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Classifique os cenários de risco.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F5ED8D-9EF2-48AE-A39C-489862B019A2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7AD2DDD-8F8C-4912-BDFB-8A68023A2AC6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Avalie impacto e probabilidade.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BF93012-71BA-4F42-BC40-E5EFE5A84186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7C34CDB-7D03-45FD-B6F8-E22BD1E2D0EA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Proponha um requisito por categoria.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22DD5A0-C45E-4472-B293-FE0E115AD8EF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5538D25-6AD8-4B13-AEC0-F6499FFCED1C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Defina como cada requisito será testado.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46F4CF2-69EC-4C7F-96DA-3F0704002F96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C43389B-E655-4BF9-9819-F986329C568E}"/>
              </a:ext>
            </a:extLst>
          </p:cNvPr>
          <p:cNvSpPr>
            <a:spLocks noGrp="1"/>
          </p:cNvSpPr>
          <p:nvPr/>
        </p:nvSpPr>
        <p:spPr>
          <a:xfrm>
            <a:off x="1123950" y="46577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Revise e publique a matriz.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FBD8AEC-FC4D-42EF-8FF5-B22C8508BCEE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619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D62ABE6-9216-41E3-B8E8-3652533F9764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3905250" cy="895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Matriz com risco, impacto, requisito preventivo e forma de verificação.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98FAD28-D2BF-415B-9C01-EC2666C41280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1619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ECC12A0-F61E-4F19-9790-75FF812E9066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Cartões de risco, checklist, modelo de matriz e plataforma de registro.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5190D72-2A1B-40E4-8B7F-59C757489889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175519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EAA15CA2-521E-4DD4-9ABB-5C278A283227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GUIA DA ESTAÇÃO   •   30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CF28B5-89BD-4BB9-8FB0-FF098683B6F1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Estação 5 Fluxo da busca inteligente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60D619-78F8-44E1-A2BE-82B2F17AC10B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00D251-59EC-4281-9E27-6DB8E2BB5508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DD8A4DC-F51E-402B-92A9-88DC44EB78F2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1190625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Objetivo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E2DC776-0999-4C85-82C6-54BDAB08E86E}"/>
              </a:ext>
            </a:extLst>
          </p:cNvPr>
          <p:cNvSpPr>
            <a:spLocks noGrp="1"/>
          </p:cNvSpPr>
          <p:nvPr/>
        </p:nvSpPr>
        <p:spPr>
          <a:xfrm>
            <a:off x="1924050" y="13335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Aplicar linguagem de programação para representar o fluxo do sistema.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5C8438-755D-4FAD-8A8F-CADD07D93A4E}"/>
              </a:ext>
            </a:extLst>
          </p:cNvPr>
          <p:cNvSpPr>
            <a:spLocks noGrp="1"/>
          </p:cNvSpPr>
          <p:nvPr/>
        </p:nvSpPr>
        <p:spPr>
          <a:xfrm>
            <a:off x="590550" y="1866900"/>
            <a:ext cx="1190625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Desafio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D3B07C-3CD7-4326-BA5C-062CCED3437A}"/>
              </a:ext>
            </a:extLst>
          </p:cNvPr>
          <p:cNvSpPr>
            <a:spLocks noGrp="1"/>
          </p:cNvSpPr>
          <p:nvPr/>
        </p:nvSpPr>
        <p:spPr>
          <a:xfrm>
            <a:off x="1924050" y="18669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Criar pseudocódigo para uma busca segura e rastreável.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E00678-4301-459D-A01A-7AA85F44ED19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1857375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Passo a passo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BC38389-A143-4D5C-AAA1-3EB10D157DC7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2118E40-7A01-4E9C-88A6-CD890A422D7B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Defina entradas, saídas e exceções.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4ADDCB-19D1-4AE2-8A8F-20219DAA3A70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B2E7348-7B80-4567-B1E7-3D3ACE62EAE8}"/>
              </a:ext>
            </a:extLst>
          </p:cNvPr>
          <p:cNvSpPr>
            <a:spLocks noGrp="1"/>
          </p:cNvSpPr>
          <p:nvPr/>
        </p:nvSpPr>
        <p:spPr>
          <a:xfrm>
            <a:off x="1123950" y="33147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Valide a pergunta e as permissões.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BB4DD42-E6A0-4C80-8860-BF005BE3FD35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04948BC-A04F-4A8C-9474-238EF29DF010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Represente a busca por similaridade.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31BD0F7-9163-47BA-A32F-91494CBF26E0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EEFF71B-43EC-49FE-900D-02A9FDA0D6F0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Trate a ausência de resultados.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C122ED1-3BFA-4C16-A147-2298C912CD39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04800" cy="28575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B258D44-73C4-40DE-AAB8-46846BE58EFA}"/>
              </a:ext>
            </a:extLst>
          </p:cNvPr>
          <p:cNvSpPr>
            <a:spLocks noGrp="1"/>
          </p:cNvSpPr>
          <p:nvPr/>
        </p:nvSpPr>
        <p:spPr>
          <a:xfrm>
            <a:off x="1123950" y="46577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Faça um teste de mesa e publique.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2477DD6-87C5-4AE0-9D14-D8E97514C02E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1619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4C3A9FB-43AA-4747-B745-79A3E6D403DD}"/>
              </a:ext>
            </a:extLst>
          </p:cNvPr>
          <p:cNvSpPr>
            <a:spLocks noGrp="1"/>
          </p:cNvSpPr>
          <p:nvPr/>
        </p:nvSpPr>
        <p:spPr>
          <a:xfrm>
            <a:off x="7524750" y="2914650"/>
            <a:ext cx="3905250" cy="89535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Pseudocódigo comentado e teste de mesa com entrada e resultado esperado.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870EDCB-B4FD-46AE-81D2-E55DFCCD7CE5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1619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Recursos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867D8F2-8870-4DCA-9CD3-F8A1C3BAAC6F}"/>
              </a:ext>
            </a:extLst>
          </p:cNvPr>
          <p:cNvSpPr>
            <a:spLocks noGrp="1"/>
          </p:cNvSpPr>
          <p:nvPr/>
        </p:nvSpPr>
        <p:spPr>
          <a:xfrm>
            <a:off x="7524750" y="4476750"/>
            <a:ext cx="3905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Editor de texto ou código, requisitos obrigatórios, casos de teste e plataforma de registro.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540BC64-0241-4F73-8009-1C07F6C1DE37}"/>
              </a:ext>
            </a:extLst>
          </p:cNvPr>
          <p:cNvSpPr>
            <a:spLocks noGrp="1"/>
          </p:cNvSpPr>
          <p:nvPr/>
        </p:nvSpPr>
        <p:spPr>
          <a:xfrm>
            <a:off x="7524750" y="56769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Publique antes do sinal de troca.</a:t>
            </a:r>
          </a:p>
        </p:txBody>
      </p:sp>
    </p:spTree>
    <p:extLst>
      <p:ext uri="{BB962C8B-B14F-4D97-AF65-F5344CB8AC3E}">
        <p14:creationId xmlns:p14="http://schemas.microsoft.com/office/powerpoint/2010/main" val="2042230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24125C34-58FD-4687-AE03-B73802F4FAE8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MATERIAL COMUM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568EE2-93DC-4EA7-8F49-6E776EC0C9DB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Requisitos obrigatórios do BuscaSaber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A26CA0-1A8E-45BA-A3FA-C1AC87FFB158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CE1BCD-E490-4802-AEC7-3862E46490DD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66F3E72-7D08-4A17-A6B8-C3FBD8F898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2009107-B04B-49AF-8330-18304E4A20CB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Receber uma pergunta em linguagem natural.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8057FF8-A8A8-4B82-A62C-FA0B33104090}"/>
              </a:ext>
            </a:extLst>
          </p:cNvPr>
          <p:cNvSpPr>
            <a:spLocks noGrp="1"/>
          </p:cNvSpPr>
          <p:nvPr/>
        </p:nvSpPr>
        <p:spPr>
          <a:xfrm>
            <a:off x="685800" y="20669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968F99-6596-474C-B747-59E722B45E3A}"/>
              </a:ext>
            </a:extLst>
          </p:cNvPr>
          <p:cNvSpPr>
            <a:spLocks noGrp="1"/>
          </p:cNvSpPr>
          <p:nvPr/>
        </p:nvSpPr>
        <p:spPr>
          <a:xfrm>
            <a:off x="952500" y="2066925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Pesquisar somente documentos autorizados para o usuário.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6F0E593-5B34-49AC-9D88-283A88A59E10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D58AD93-7160-4961-9675-EDD13E8941DB}"/>
              </a:ext>
            </a:extLst>
          </p:cNvPr>
          <p:cNvSpPr>
            <a:spLocks noGrp="1"/>
          </p:cNvSpPr>
          <p:nvPr/>
        </p:nvSpPr>
        <p:spPr>
          <a:xfrm>
            <a:off x="952500" y="2705100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Apresentar título, trecho e fonte de cada resultado.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2884295-71DF-43D4-ACC1-90A37FC8A877}"/>
              </a:ext>
            </a:extLst>
          </p:cNvPr>
          <p:cNvSpPr>
            <a:spLocks noGrp="1"/>
          </p:cNvSpPr>
          <p:nvPr/>
        </p:nvSpPr>
        <p:spPr>
          <a:xfrm>
            <a:off x="685800" y="33432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8EF66BC-7502-4D09-B479-1F85591F850F}"/>
              </a:ext>
            </a:extLst>
          </p:cNvPr>
          <p:cNvSpPr>
            <a:spLocks noGrp="1"/>
          </p:cNvSpPr>
          <p:nvPr/>
        </p:nvSpPr>
        <p:spPr>
          <a:xfrm>
            <a:off x="952500" y="3343275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Informar quando não houver resultado suficientemente semelhante.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4EB3441-1A22-4D09-A2B3-9272E0B67D04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7A359E6-72F2-45B4-89C1-794CF035C8AB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Permitir a inclusão, atualização e remoção de documentos por administradores.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2A3F99-C396-4F73-9D1A-C8926A44BF5E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190"/>
          </a:bodyPr>
          <a:lstStyle/>
          <a:p>
            <a:pPr algn="l">
              <a:def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DDFB31F-16BF-4574-91BD-7D9DC403FCDE}"/>
              </a:ext>
            </a:extLst>
          </p:cNvPr>
          <p:cNvSpPr>
            <a:spLocks noGrp="1"/>
          </p:cNvSpPr>
          <p:nvPr/>
        </p:nvSpPr>
        <p:spPr>
          <a:xfrm>
            <a:off x="952500" y="4619625"/>
            <a:ext cx="100203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Registrar o uso sem armazenar dados pessoais desnecessários.</a:t>
            </a:r>
          </a:p>
        </p:txBody>
      </p:sp>
    </p:spTree>
    <p:extLst>
      <p:ext uri="{BB962C8B-B14F-4D97-AF65-F5344CB8AC3E}">
        <p14:creationId xmlns:p14="http://schemas.microsoft.com/office/powerpoint/2010/main" val="151360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A0D9377D-36C5-495E-80AA-C5025DDD864C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25 MINUTOS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175B715-4FCC-4A1A-8C00-0C7AD3FCE9A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Síntese coletiva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13A2F4-E338-4272-A7D7-6C5E553F5BFF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8F03F92-0E55-4A64-9417-C89DAA15BC51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EF1EE90-2610-4BF6-9CCC-ACE8B5E9215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668000" cy="571500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Cada grupo escolhe uma decisão técnica que considera essencial e a justifica para a turma.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4103AE-0C40-4743-A0F3-29C1FB9DC395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419100" cy="41910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C86941E-84C0-47F4-9F70-F2B49E161C86}"/>
              </a:ext>
            </a:extLst>
          </p:cNvPr>
          <p:cNvSpPr>
            <a:spLocks noGrp="1"/>
          </p:cNvSpPr>
          <p:nvPr/>
        </p:nvSpPr>
        <p:spPr>
          <a:xfrm>
            <a:off x="1476375" y="25336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Qual necessidade orientou a decisão?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4F8F2A-C534-47BE-AAFC-4A838876E947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419100" cy="41910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2CF743C-9C72-4BA5-B094-2A0BFAC4ECB8}"/>
              </a:ext>
            </a:extLst>
          </p:cNvPr>
          <p:cNvSpPr>
            <a:spLocks noGrp="1"/>
          </p:cNvSpPr>
          <p:nvPr/>
        </p:nvSpPr>
        <p:spPr>
          <a:xfrm>
            <a:off x="1476375" y="32194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Qual requisito oferece evidência?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E13CB4B-29C2-4E73-853B-CF2002AD1D6F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419100" cy="41910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3B7F9C-503F-45DC-8EB4-031CD040B1E8}"/>
              </a:ext>
            </a:extLst>
          </p:cNvPr>
          <p:cNvSpPr>
            <a:spLocks noGrp="1"/>
          </p:cNvSpPr>
          <p:nvPr/>
        </p:nvSpPr>
        <p:spPr>
          <a:xfrm>
            <a:off x="1476375" y="39052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Que risco foi reduzido?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FD4C96-62A5-4585-B0A2-07DDE4A7AAE1}"/>
              </a:ext>
            </a:extLst>
          </p:cNvPr>
          <p:cNvSpPr>
            <a:spLocks noGrp="1"/>
          </p:cNvSpPr>
          <p:nvPr/>
        </p:nvSpPr>
        <p:spPr>
          <a:xfrm>
            <a:off x="857250" y="4629150"/>
            <a:ext cx="419100" cy="419100"/>
          </a:xfrm>
          <a:prstGeom prst="rect">
            <a:avLst/>
          </a:prstGeom>
          <a:solidFill>
            <a:srgbClr val="22A6A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5A8A7A1-361A-4910-9B8C-92B6550D8976}"/>
              </a:ext>
            </a:extLst>
          </p:cNvPr>
          <p:cNvSpPr>
            <a:spLocks noGrp="1"/>
          </p:cNvSpPr>
          <p:nvPr/>
        </p:nvSpPr>
        <p:spPr>
          <a:xfrm>
            <a:off x="1476375" y="4591050"/>
            <a:ext cx="9048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Como a solução será verificada?</a:t>
            </a:r>
          </a:p>
        </p:txBody>
      </p:sp>
    </p:spTree>
    <p:extLst>
      <p:ext uri="{BB962C8B-B14F-4D97-AF65-F5344CB8AC3E}">
        <p14:creationId xmlns:p14="http://schemas.microsoft.com/office/powerpoint/2010/main" val="1426654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E12EE709-31B3-4525-9842-53C5515916C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590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AVALIAÇÃO FORMATIVA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29989E2-4143-472A-87BB-7664393DB736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10572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Registros da aprendizagem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A3CD2E1-7F3B-4174-B50C-4D7E64A90340}"/>
              </a:ext>
            </a:extLst>
          </p:cNvPr>
          <p:cNvSpPr>
            <a:spLocks noGrp="1"/>
          </p:cNvSpPr>
          <p:nvPr/>
        </p:nvSpPr>
        <p:spPr>
          <a:xfrm>
            <a:off x="590550" y="6467475"/>
            <a:ext cx="105727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Curso Técnico em Desenvolvimento de Sistemas   •   Modelagem de Sistemas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E6CA73-9961-4BB2-8160-58E823AC8828}"/>
              </a:ext>
            </a:extLst>
          </p:cNvPr>
          <p:cNvSpPr>
            <a:spLocks noGrp="1"/>
          </p:cNvSpPr>
          <p:nvPr/>
        </p:nvSpPr>
        <p:spPr>
          <a:xfrm>
            <a:off x="11277600" y="6467475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r">
              <a:def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2606D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8748CEF-F001-43B7-B10D-F1122A00413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3143250" cy="32385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Evidências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DA64F8A-2009-4B63-BA38-E11B12FB20BC}"/>
              </a:ext>
            </a:extLst>
          </p:cNvPr>
          <p:cNvSpPr>
            <a:spLocks noGrp="1"/>
          </p:cNvSpPr>
          <p:nvPr/>
        </p:nvSpPr>
        <p:spPr>
          <a:xfrm>
            <a:off x="4572000" y="1381125"/>
            <a:ext cx="3143250" cy="3238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Critérios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3AC2EC-E0B6-45FE-B283-EFA9FBB63AD4}"/>
              </a:ext>
            </a:extLst>
          </p:cNvPr>
          <p:cNvSpPr>
            <a:spLocks noGrp="1"/>
          </p:cNvSpPr>
          <p:nvPr/>
        </p:nvSpPr>
        <p:spPr>
          <a:xfrm>
            <a:off x="8553450" y="1381125"/>
            <a:ext cx="2876550" cy="32385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Fechamento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FFABB63-56BD-4F76-AADA-6AFCCE9C2864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B66F86C-AB09-4428-9F9C-9BFC23F4DDF2}"/>
              </a:ext>
            </a:extLst>
          </p:cNvPr>
          <p:cNvSpPr>
            <a:spLocks noGrp="1"/>
          </p:cNvSpPr>
          <p:nvPr/>
        </p:nvSpPr>
        <p:spPr>
          <a:xfrm>
            <a:off x="885825" y="195262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Produções das estações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7F97141-B82C-4267-A33E-DDDEFCC7246A}"/>
              </a:ext>
            </a:extLst>
          </p:cNvPr>
          <p:cNvSpPr>
            <a:spLocks noGrp="1"/>
          </p:cNvSpPr>
          <p:nvPr/>
        </p:nvSpPr>
        <p:spPr>
          <a:xfrm>
            <a:off x="619125" y="26193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6E64984-0654-476E-A49C-ED91B73EFE13}"/>
              </a:ext>
            </a:extLst>
          </p:cNvPr>
          <p:cNvSpPr>
            <a:spLocks noGrp="1"/>
          </p:cNvSpPr>
          <p:nvPr/>
        </p:nvSpPr>
        <p:spPr>
          <a:xfrm>
            <a:off x="885825" y="26193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Checklist docente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D27ADF0-BBF6-4ADF-9764-D16555B9C1D9}"/>
              </a:ext>
            </a:extLst>
          </p:cNvPr>
          <p:cNvSpPr>
            <a:spLocks noGrp="1"/>
          </p:cNvSpPr>
          <p:nvPr/>
        </p:nvSpPr>
        <p:spPr>
          <a:xfrm>
            <a:off x="619125" y="32861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7028EA8-15F1-4784-93B8-17B656B329FC}"/>
              </a:ext>
            </a:extLst>
          </p:cNvPr>
          <p:cNvSpPr>
            <a:spLocks noGrp="1"/>
          </p:cNvSpPr>
          <p:nvPr/>
        </p:nvSpPr>
        <p:spPr>
          <a:xfrm>
            <a:off x="885825" y="328612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Síntese oral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6EF1198-003E-4078-BF17-0E8CD5A95FC6}"/>
              </a:ext>
            </a:extLst>
          </p:cNvPr>
          <p:cNvSpPr>
            <a:spLocks noGrp="1"/>
          </p:cNvSpPr>
          <p:nvPr/>
        </p:nvSpPr>
        <p:spPr>
          <a:xfrm>
            <a:off x="4600575" y="19526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3F6412F-059F-492B-A44B-C032BDF956E3}"/>
              </a:ext>
            </a:extLst>
          </p:cNvPr>
          <p:cNvSpPr>
            <a:spLocks noGrp="1"/>
          </p:cNvSpPr>
          <p:nvPr/>
        </p:nvSpPr>
        <p:spPr>
          <a:xfrm>
            <a:off x="4867275" y="195262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Coerência técnica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F6BBC9D-D007-49C3-A2D8-6D8CB68D15C9}"/>
              </a:ext>
            </a:extLst>
          </p:cNvPr>
          <p:cNvSpPr>
            <a:spLocks noGrp="1"/>
          </p:cNvSpPr>
          <p:nvPr/>
        </p:nvSpPr>
        <p:spPr>
          <a:xfrm>
            <a:off x="4600575" y="25431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A8D3E19-4C12-44C9-BECF-F10A9F6C9EF3}"/>
              </a:ext>
            </a:extLst>
          </p:cNvPr>
          <p:cNvSpPr>
            <a:spLocks noGrp="1"/>
          </p:cNvSpPr>
          <p:nvPr/>
        </p:nvSpPr>
        <p:spPr>
          <a:xfrm>
            <a:off x="4867275" y="25431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Requisitos verificáveis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848BFE1-5B88-46B9-98DA-E6675B5E6D39}"/>
              </a:ext>
            </a:extLst>
          </p:cNvPr>
          <p:cNvSpPr>
            <a:spLocks noGrp="1"/>
          </p:cNvSpPr>
          <p:nvPr/>
        </p:nvSpPr>
        <p:spPr>
          <a:xfrm>
            <a:off x="4600575" y="31337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5C58733-A9DD-4B04-9763-220C31C958F0}"/>
              </a:ext>
            </a:extLst>
          </p:cNvPr>
          <p:cNvSpPr>
            <a:spLocks noGrp="1"/>
          </p:cNvSpPr>
          <p:nvPr/>
        </p:nvSpPr>
        <p:spPr>
          <a:xfrm>
            <a:off x="4867275" y="313372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Decisões justificadas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94383DA-59DE-421C-9462-A613F78D51BF}"/>
              </a:ext>
            </a:extLst>
          </p:cNvPr>
          <p:cNvSpPr>
            <a:spLocks noGrp="1"/>
          </p:cNvSpPr>
          <p:nvPr/>
        </p:nvSpPr>
        <p:spPr>
          <a:xfrm>
            <a:off x="4600575" y="37242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26D3E21-26F3-442E-BC53-42740F4D172C}"/>
              </a:ext>
            </a:extLst>
          </p:cNvPr>
          <p:cNvSpPr>
            <a:spLocks noGrp="1"/>
          </p:cNvSpPr>
          <p:nvPr/>
        </p:nvSpPr>
        <p:spPr>
          <a:xfrm>
            <a:off x="4867275" y="3724275"/>
            <a:ext cx="30670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Colaboração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D684BB2-90CF-4E13-BA8B-E1BAD91A4AC3}"/>
              </a:ext>
            </a:extLst>
          </p:cNvPr>
          <p:cNvSpPr>
            <a:spLocks noGrp="1"/>
          </p:cNvSpPr>
          <p:nvPr/>
        </p:nvSpPr>
        <p:spPr>
          <a:xfrm>
            <a:off x="8582025" y="19526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F18CF8C-4D99-4542-BA9A-20E57EA2C37F}"/>
              </a:ext>
            </a:extLst>
          </p:cNvPr>
          <p:cNvSpPr>
            <a:spLocks noGrp="1"/>
          </p:cNvSpPr>
          <p:nvPr/>
        </p:nvSpPr>
        <p:spPr>
          <a:xfrm>
            <a:off x="8848725" y="1952625"/>
            <a:ext cx="24479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Autoavaliação individual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A898E02-E487-4DAB-904C-375F459B7AE4}"/>
              </a:ext>
            </a:extLst>
          </p:cNvPr>
          <p:cNvSpPr>
            <a:spLocks noGrp="1"/>
          </p:cNvSpPr>
          <p:nvPr/>
        </p:nvSpPr>
        <p:spPr>
          <a:xfrm>
            <a:off x="8582025" y="26193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F650159-C954-4F78-AD28-4AD5872985F3}"/>
              </a:ext>
            </a:extLst>
          </p:cNvPr>
          <p:cNvSpPr>
            <a:spLocks noGrp="1"/>
          </p:cNvSpPr>
          <p:nvPr/>
        </p:nvSpPr>
        <p:spPr>
          <a:xfrm>
            <a:off x="8848725" y="2619375"/>
            <a:ext cx="24479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Aprendizado principal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6D77B82B-093E-42B8-9283-E3FB6E91DE61}"/>
              </a:ext>
            </a:extLst>
          </p:cNvPr>
          <p:cNvSpPr>
            <a:spLocks noGrp="1"/>
          </p:cNvSpPr>
          <p:nvPr/>
        </p:nvSpPr>
        <p:spPr>
          <a:xfrm>
            <a:off x="8582025" y="32861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3531"/>
          </a:bodyPr>
          <a:lstStyle/>
          <a:p>
            <a:pPr algn="l">
              <a:def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2A6A8"/>
                </a:solidFill>
                <a:latin typeface="Bitstream Charter"/>
                <a:ea typeface="Bitstream Charter"/>
                <a:cs typeface="Bitstream Charter"/>
              </a:rPr>
              <a:t>•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B26C59E-7FD8-468F-9E55-C642A912C599}"/>
              </a:ext>
            </a:extLst>
          </p:cNvPr>
          <p:cNvSpPr>
            <a:spLocks noGrp="1"/>
          </p:cNvSpPr>
          <p:nvPr/>
        </p:nvSpPr>
        <p:spPr>
          <a:xfrm>
            <a:off x="8848725" y="3286125"/>
            <a:ext cx="24479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Dificuldade atual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B608380-F94E-4552-B3D2-353ECB5081A8}"/>
              </a:ext>
            </a:extLst>
          </p:cNvPr>
          <p:cNvSpPr>
            <a:spLocks noGrp="1"/>
          </p:cNvSpPr>
          <p:nvPr/>
        </p:nvSpPr>
        <p:spPr>
          <a:xfrm>
            <a:off x="590550" y="5095875"/>
            <a:ext cx="10839450" cy="619125"/>
          </a:xfrm>
          <a:prstGeom prst="rect">
            <a:avLst/>
          </a:prstGeom>
          <a:solidFill>
            <a:srgbClr val="DFF3F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A proposta final deve relacionar necessidades, requisitos, arquitetura, riscos e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3020334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1678</Words>
  <Application>Microsoft Office PowerPoint</Application>
  <DocSecurity>0</DocSecurity>
  <PresentationFormat>Widescreen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Bitstream Charter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Jamanjo Cursos</cp:lastModifiedBy>
  <cp:revision>1</cp:revision>
  <dcterms:created xsi:type="dcterms:W3CDTF">2026-09-13T21:47:58Z</dcterms:created>
  <dcterms:modified xsi:type="dcterms:W3CDTF">2026-09-13T22:00:48Z</dcterms:modified>
</cp:coreProperties>
</file>
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Lexen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">
          <p15:clr>
            <a:srgbClr val="747775"/>
          </p15:clr>
        </p15:guide>
        <p15:guide id="2" pos="204">
          <p15:clr>
            <a:srgbClr val="747775"/>
          </p15:clr>
        </p15:guide>
        <p15:guide id="3" pos="555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" orient="horz"/>
        <p:guide pos="204"/>
        <p:guide pos="55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exend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7eea1160b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2e7eea1160b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e7eea1160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2e7eea1160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4ba2a457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f4ba2a457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19ce1209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d19ce1209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50e7ae8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50e7ae8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50e7ae85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50e7ae85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4667add6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4667add6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4667add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4667add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4667add6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4667add6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46cdde5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46cdde5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0e7ae85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50e7ae85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801dd706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f801dd706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da Apresentação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1527900" y="15768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Lexend"/>
              <a:buNone/>
              <a:defRPr b="1" sz="35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">
  <p:cSld name="CUSTOM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324000" y="527500"/>
            <a:ext cx="8473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just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2500"/>
              <a:buFont typeface="Lexend"/>
              <a:buNone/>
              <a:defRPr b="1" sz="2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24000" y="1344100"/>
            <a:ext cx="84738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1500"/>
              <a:buFont typeface="Lexend"/>
              <a:buNone/>
              <a:defRPr sz="1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da Apresentação">
  <p:cSld name="CUSTOM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Extra da Apresentação">
  <p:cSld name="CUSTOM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5"/>
          <p:cNvPicPr preferRelativeResize="0"/>
          <p:nvPr/>
        </p:nvPicPr>
        <p:blipFill rotWithShape="1">
          <a:blip r:embed="rId3">
            <a:alphaModFix/>
          </a:blip>
          <a:srcRect b="43071" l="20157" r="47629" t="42274"/>
          <a:stretch/>
        </p:blipFill>
        <p:spPr>
          <a:xfrm>
            <a:off x="3063175" y="2183425"/>
            <a:ext cx="3017650" cy="7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bra de Tema">
  <p:cSld name="CUSTOM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/>
          <p:nvPr>
            <p:ph type="title"/>
          </p:nvPr>
        </p:nvSpPr>
        <p:spPr>
          <a:xfrm>
            <a:off x="1288200" y="2002350"/>
            <a:ext cx="6567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Lexend"/>
              <a:buNone/>
              <a:defRPr b="1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urso Extra">
  <p:cSld name="CUSTOM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193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type="title"/>
          </p:nvPr>
        </p:nvSpPr>
        <p:spPr>
          <a:xfrm>
            <a:off x="1527900" y="21337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Lexend"/>
              <a:buNone/>
              <a:defRPr b="1" sz="25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 SESI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628650" y="273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hyperlink" Target="https://canva.link/0m2u2nnxmaqbxyh" TargetMode="External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spreadsheets/d/1fUeM6PMVioqo7YC51Ru_1ZOWXeKpBbKYHIrHWdYaIeA/edit?gid=0#gid=0" TargetMode="External"/><Relationship Id="rId4" Type="http://schemas.openxmlformats.org/officeDocument/2006/relationships/hyperlink" Target="https://docs.google.com/spreadsheets/d/1oqrWW8Ek4egUsvmmJRAY_o_ElmrY5cQ1DaNaBIS5zuM/edit?gid=0#gid=0" TargetMode="External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kahoot.com/pt-BR/" TargetMode="External"/><Relationship Id="rId4" Type="http://schemas.openxmlformats.org/officeDocument/2006/relationships/hyperlink" Target="https://docs.google.com/document/d/1Dpu5lQ9QS_t5gSxGeWfG2NoHPXTL2GpAJDbW795ma4M/edit?tab=t.0#heading=h.dbdsl9rb7nwd" TargetMode="External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541750" y="1576850"/>
            <a:ext cx="6074400" cy="11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/>
              <a:t>Estação por </a:t>
            </a:r>
            <a:r>
              <a:rPr lang="pt-BR" sz="4200"/>
              <a:t>Rotação 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0"/>
          <p:cNvSpPr txBox="1"/>
          <p:nvPr>
            <p:ph type="title"/>
          </p:nvPr>
        </p:nvSpPr>
        <p:spPr>
          <a:xfrm>
            <a:off x="1527900" y="2133750"/>
            <a:ext cx="6088200" cy="11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 House_Mentoria Pedagógica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324000" y="363100"/>
            <a:ext cx="80787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VANTAGENS DO USO DE METODOLOGIA ESTAÇÃO POR ROTAÇÃO</a:t>
            </a:r>
            <a:endParaRPr sz="2100"/>
          </a:p>
        </p:txBody>
      </p:sp>
      <p:sp>
        <p:nvSpPr>
          <p:cNvPr id="45" name="Google Shape;45;p11"/>
          <p:cNvSpPr txBox="1"/>
          <p:nvPr>
            <p:ph idx="1" type="subTitle"/>
          </p:nvPr>
        </p:nvSpPr>
        <p:spPr>
          <a:xfrm>
            <a:off x="214950" y="1354700"/>
            <a:ext cx="8714100" cy="3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/>
              <a:t>Maior </a:t>
            </a:r>
            <a:r>
              <a:rPr b="1" lang="pt-BR"/>
              <a:t>engajamento</a:t>
            </a:r>
            <a:r>
              <a:rPr lang="pt-BR"/>
              <a:t> dos alunos: incentivam a participação ativa dos alunos;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pt-BR"/>
              <a:t>Aprendizado significativo: </a:t>
            </a:r>
            <a:r>
              <a:rPr lang="pt-BR"/>
              <a:t>ao envolver os alunos em atividades práticas e desafiadoras, facilitam a compreensão dos conteúdos de forma mais profunda e fixação do conhecimento;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/>
              <a:t>Desenvolvimento de </a:t>
            </a:r>
            <a:r>
              <a:rPr b="1" lang="pt-BR"/>
              <a:t>habilidades como trabalho em equipe, pensamento crítico, resolução de problemas e tomada de decisões,</a:t>
            </a:r>
            <a:r>
              <a:rPr lang="pt-BR"/>
              <a:t> que são importantes no mundo atual;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pt-BR"/>
              <a:t>Autonomia e Responsabilidade:</a:t>
            </a:r>
            <a:r>
              <a:rPr lang="pt-BR"/>
              <a:t> os alunos são encorajados a assumir um papel mais ativo em seu próprio processo de aprendizagem, tornando-se responsáveis por seu próprio desenvolvimento;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/>
        </p:nvSpPr>
        <p:spPr>
          <a:xfrm>
            <a:off x="5483500" y="1323750"/>
            <a:ext cx="33366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pt-BR" sz="5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Estação por rotações</a:t>
            </a:r>
            <a:endParaRPr i="0" sz="53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12" title="A LENDA (9).png"/>
          <p:cNvPicPr preferRelativeResize="0"/>
          <p:nvPr/>
        </p:nvPicPr>
        <p:blipFill rotWithShape="1">
          <a:blip r:embed="rId4">
            <a:alphaModFix/>
          </a:blip>
          <a:srcRect b="5980" l="10637" r="14300" t="1880"/>
          <a:stretch/>
        </p:blipFill>
        <p:spPr>
          <a:xfrm rot="5400000">
            <a:off x="1075850" y="-411901"/>
            <a:ext cx="3560324" cy="546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626" y="866875"/>
            <a:ext cx="4818050" cy="35459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7" name="Google Shape;57;p13"/>
          <p:cNvSpPr txBox="1"/>
          <p:nvPr/>
        </p:nvSpPr>
        <p:spPr>
          <a:xfrm>
            <a:off x="5483500" y="1323750"/>
            <a:ext cx="33366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i="0" lang="pt-BR" sz="53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Roteiro de viagem</a:t>
            </a:r>
            <a:endParaRPr i="0" sz="53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095350" y="1323750"/>
            <a:ext cx="3724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pt-BR" sz="53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Vamos viajar?</a:t>
            </a:r>
            <a:endParaRPr i="0" sz="53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14" title="A LENDA (7).png"/>
          <p:cNvPicPr preferRelativeResize="0"/>
          <p:nvPr/>
        </p:nvPicPr>
        <p:blipFill rotWithShape="1">
          <a:blip r:embed="rId5">
            <a:alphaModFix/>
          </a:blip>
          <a:srcRect b="12312" l="17995" r="19974" t="13833"/>
          <a:stretch/>
        </p:blipFill>
        <p:spPr>
          <a:xfrm>
            <a:off x="1052275" y="398400"/>
            <a:ext cx="3083424" cy="45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218175" y="180775"/>
            <a:ext cx="8322600" cy="4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5DA8"/>
              </a:buClr>
              <a:buSzPts val="2400"/>
              <a:buFont typeface="Lexend"/>
              <a:buAutoNum type="arabicPeriod"/>
            </a:pPr>
            <a:r>
              <a:rPr lang="pt-BR" sz="2400">
                <a:solidFill>
                  <a:srgbClr val="F7F7F7"/>
                </a:solidFill>
                <a:latin typeface="Lexend"/>
                <a:ea typeface="Lexend"/>
                <a:cs typeface="Lexend"/>
                <a:sym typeface="Lexend"/>
              </a:rPr>
              <a:t>Você deve entrar na Estação Central onde continuará em contato conosco</a:t>
            </a:r>
            <a:endParaRPr sz="2400">
              <a:solidFill>
                <a:srgbClr val="F7F7F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7F7F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5DA8"/>
              </a:buClr>
              <a:buSzPts val="2400"/>
              <a:buFont typeface="Lexend"/>
              <a:buAutoNum type="arabicPeriod"/>
            </a:pPr>
            <a:r>
              <a:rPr lang="pt-BR" sz="2400">
                <a:solidFill>
                  <a:srgbClr val="F7F7F7"/>
                </a:solidFill>
                <a:latin typeface="Lexend"/>
                <a:ea typeface="Lexend"/>
                <a:cs typeface="Lexend"/>
                <a:sym typeface="Lexend"/>
              </a:rPr>
              <a:t>Formaremos equipes de viagem que deverão trabalhar juntos.  Será necessário eleger um líder que projetará o “GPS” (a trilha) e fará alguns registros</a:t>
            </a:r>
            <a:endParaRPr sz="2400">
              <a:solidFill>
                <a:srgbClr val="F7F7F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7F7F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5DA8"/>
              </a:buClr>
              <a:buSzPts val="2400"/>
              <a:buFont typeface="Oswald"/>
              <a:buAutoNum type="arabicPeriod"/>
            </a:pPr>
            <a:r>
              <a:rPr lang="pt-BR" sz="2400">
                <a:solidFill>
                  <a:srgbClr val="F2F2F2"/>
                </a:solidFill>
                <a:latin typeface="Lexend"/>
                <a:ea typeface="Lexend"/>
                <a:cs typeface="Lexend"/>
                <a:sym typeface="Lexend"/>
              </a:rPr>
              <a:t>Cada equipe terá ao menos </a:t>
            </a:r>
            <a:r>
              <a:rPr b="1" lang="pt-BR" sz="2400">
                <a:solidFill>
                  <a:srgbClr val="F2F2F2"/>
                </a:solidFill>
                <a:latin typeface="Lexend"/>
                <a:ea typeface="Lexend"/>
                <a:cs typeface="Lexend"/>
                <a:sym typeface="Lexend"/>
              </a:rPr>
              <a:t>15min*</a:t>
            </a:r>
            <a:r>
              <a:rPr lang="pt-BR" sz="2400">
                <a:solidFill>
                  <a:srgbClr val="F2F2F2"/>
                </a:solidFill>
                <a:latin typeface="Lexend"/>
                <a:ea typeface="Lexend"/>
                <a:cs typeface="Lexend"/>
                <a:sym typeface="Lexend"/>
              </a:rPr>
              <a:t> em cada estação</a:t>
            </a:r>
            <a:r>
              <a:rPr lang="pt-BR" sz="2400">
                <a:solidFill>
                  <a:srgbClr val="F7F7F7"/>
                </a:solidFill>
                <a:latin typeface="Lexend"/>
                <a:ea typeface="Lexend"/>
                <a:cs typeface="Lexend"/>
                <a:sym typeface="Lexend"/>
              </a:rPr>
              <a:t> e a</a:t>
            </a:r>
            <a:r>
              <a:rPr lang="pt-BR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rotação será em sentido horário/crescente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5DA8"/>
              </a:buClr>
              <a:buSzPts val="2400"/>
              <a:buFont typeface="Lexend"/>
              <a:buAutoNum type="arabicPeriod"/>
            </a:pPr>
            <a:r>
              <a:rPr lang="pt-BR" sz="2400">
                <a:solidFill>
                  <a:srgbClr val="F2F2F2"/>
                </a:solidFill>
                <a:latin typeface="Lexend"/>
                <a:ea typeface="Lexend"/>
                <a:cs typeface="Lexend"/>
                <a:sym typeface="Lexend"/>
              </a:rPr>
              <a:t>Cada equipe deve mudar para a próxima estação ao som do trem</a:t>
            </a:r>
            <a:endParaRPr sz="4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24000" y="368750"/>
            <a:ext cx="64917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Estaçã</a:t>
            </a:r>
            <a:r>
              <a:rPr lang="pt-BR"/>
              <a:t>o 1 - Conhecendo a proposta</a:t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24000" y="1344100"/>
            <a:ext cx="3747300" cy="3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 sz="1400"/>
              <a:t>Acesse o </a:t>
            </a:r>
            <a:r>
              <a:rPr b="1" i="1" lang="pt-BR" sz="1400"/>
              <a:t>Gemini</a:t>
            </a:r>
            <a:r>
              <a:rPr lang="pt-BR" sz="1400"/>
              <a:t> e inicie uma nova conversa;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 sz="1400"/>
              <a:t>Faça o </a:t>
            </a:r>
            <a:r>
              <a:rPr lang="pt-BR" sz="1400"/>
              <a:t>upload</a:t>
            </a:r>
            <a:r>
              <a:rPr lang="pt-BR" sz="1400"/>
              <a:t> da </a:t>
            </a:r>
            <a:r>
              <a:rPr lang="pt-BR" sz="1400" u="sng">
                <a:solidFill>
                  <a:schemeClr val="hlink"/>
                </a:solidFill>
                <a:hlinkClick r:id="rId3"/>
              </a:rPr>
              <a:t>Matriz Curricular</a:t>
            </a:r>
            <a:r>
              <a:rPr lang="pt-BR" sz="1400"/>
              <a:t> (AUT) ou </a:t>
            </a:r>
            <a:r>
              <a:rPr lang="pt-BR" sz="1400" u="sng">
                <a:solidFill>
                  <a:schemeClr val="hlink"/>
                </a:solidFill>
                <a:hlinkClick r:id="rId4"/>
              </a:rPr>
              <a:t>Matriz Curricular</a:t>
            </a:r>
            <a:r>
              <a:rPr lang="pt-BR" sz="1400"/>
              <a:t> (DEV);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 sz="1400"/>
              <a:t>Solicite ao Gemini a criação de um Mapa Mental (conforme exemplo ao lado), por meio de criação de um prompt;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 sz="1400"/>
              <a:t>Aperfeiçoe seu prompt, conforme a necessidade.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 sz="1300"/>
              <a:t>Compartilhe o resultado no padlet, mostrando o resultado e o prompt utilizado.</a:t>
            </a:r>
            <a:endParaRPr sz="140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6675" y="1249225"/>
            <a:ext cx="3492250" cy="19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24000" y="527500"/>
            <a:ext cx="84738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Estação 2 - Plano de Estudos com NotebookLM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24000" y="1344100"/>
            <a:ext cx="6499200" cy="23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pt-BR"/>
              <a:t>Acesse o NotebookLM e clique no botão;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pt-BR"/>
              <a:t>Faça upload dos materiais da aula no NotebookLM;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pt-BR"/>
              <a:t>Utilize uma das ferramentas do Studio e </a:t>
            </a:r>
            <a:r>
              <a:rPr lang="pt-BR" sz="1400"/>
              <a:t>r</a:t>
            </a:r>
            <a:r>
              <a:rPr lang="pt-BR" sz="1400"/>
              <a:t>evise os resultados elaboradas, inserindo, alterando ou removendo texto e imagens, caso necessário.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 sz="1400"/>
              <a:t>Compartilhe o resultado no padlet, indicando qual recurso e comando foi utilizado.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021" y="1382071"/>
            <a:ext cx="1645321" cy="4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7075" y="2345650"/>
            <a:ext cx="2041100" cy="2234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24000" y="323850"/>
            <a:ext cx="50379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Estação 3 - Gamificação</a:t>
            </a:r>
            <a:endParaRPr/>
          </a:p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324000" y="910875"/>
            <a:ext cx="5114400" cy="38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 sz="1300"/>
              <a:t>Acessar o </a:t>
            </a:r>
            <a:r>
              <a:rPr lang="pt-BR" sz="1300" u="sng">
                <a:solidFill>
                  <a:schemeClr val="hlink"/>
                </a:solidFill>
                <a:hlinkClick r:id="rId3"/>
              </a:rPr>
              <a:t>https://kahoot.com/pt-BR/</a:t>
            </a:r>
            <a:r>
              <a:rPr lang="pt-BR" sz="1300"/>
              <a:t> e fazer login;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 sz="1300"/>
              <a:t>Clique em                   e na opção “pdf para kahoot;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 sz="1300"/>
              <a:t>Faça o upload </a:t>
            </a:r>
            <a:r>
              <a:rPr lang="pt-BR" sz="1300" u="sng">
                <a:solidFill>
                  <a:schemeClr val="hlink"/>
                </a:solidFill>
                <a:hlinkClick r:id="rId4"/>
              </a:rPr>
              <a:t>deste documento</a:t>
            </a:r>
            <a:r>
              <a:rPr lang="pt-BR" sz="1300"/>
              <a:t> em pdf (para a turma de AUT), ou de outro documento de texto gerado no NotebookLM a partir dos materiais elaborados pelos docentes nas apresentações;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 sz="1300"/>
              <a:t>Selecione o arquivo e clique em “gerar”;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 sz="1300"/>
              <a:t>Selecione as perguntas que deseja inserir no quizz, conforme imagem ao lado.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 sz="1300"/>
              <a:t>Revise as questões elaboradas, inserindo, alterando ou removendo texto e imagens, caso necessário.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 sz="1300"/>
              <a:t>Compartilhe seu kahoot no padlet.</a:t>
            </a:r>
            <a:endParaRPr sz="13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9725" y="1087800"/>
            <a:ext cx="1321850" cy="194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1975" y="1400601"/>
            <a:ext cx="728749" cy="2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 rotWithShape="1">
          <a:blip r:embed="rId7">
            <a:alphaModFix/>
          </a:blip>
          <a:srcRect b="0" l="0" r="11887" t="0"/>
          <a:stretch/>
        </p:blipFill>
        <p:spPr>
          <a:xfrm>
            <a:off x="5438300" y="3318750"/>
            <a:ext cx="3548599" cy="1457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5361900" y="1812575"/>
            <a:ext cx="728700" cy="208800"/>
          </a:xfrm>
          <a:prstGeom prst="chevron">
            <a:avLst>
              <a:gd fmla="val 97348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3605000" y="3368075"/>
            <a:ext cx="1250700" cy="133800"/>
          </a:xfrm>
          <a:prstGeom prst="chevron">
            <a:avLst>
              <a:gd fmla="val 97348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24000" y="527500"/>
            <a:ext cx="84738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Estação</a:t>
            </a:r>
            <a:r>
              <a:rPr lang="pt-BR"/>
              <a:t> 4 - Diversificando ferramentas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subTitle"/>
          </p:nvPr>
        </p:nvSpPr>
        <p:spPr>
          <a:xfrm>
            <a:off x="324000" y="1344100"/>
            <a:ext cx="4686600" cy="17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pt-BR"/>
              <a:t>Selecione um conteúdo de aula que deseja modificar o formato;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pt-BR"/>
              <a:t>Abra a ferramenta </a:t>
            </a:r>
            <a:r>
              <a:rPr b="1" lang="pt-BR"/>
              <a:t>“vids”;</a:t>
            </a:r>
            <a:endParaRPr b="1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pt-BR"/>
              <a:t>Crie um vídeo, de até</a:t>
            </a:r>
            <a:r>
              <a:rPr b="1" lang="pt-BR"/>
              <a:t> 1 min</a:t>
            </a:r>
            <a:r>
              <a:rPr lang="pt-BR"/>
              <a:t>, que contenha: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pt-BR"/>
              <a:t>pelo</a:t>
            </a:r>
            <a:r>
              <a:rPr b="1" lang="pt-BR"/>
              <a:t> menos uma imagem;</a:t>
            </a:r>
            <a:endParaRPr b="1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pt-BR"/>
              <a:t>legendas;</a:t>
            </a:r>
            <a:endParaRPr b="1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pt-BR"/>
              <a:t>narração em áudio.</a:t>
            </a:r>
            <a:endParaRPr b="1"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1250" y="1188400"/>
            <a:ext cx="2477475" cy="159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/>
        </p:nvSpPr>
        <p:spPr>
          <a:xfrm>
            <a:off x="5095350" y="1323750"/>
            <a:ext cx="37248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t/>
            </a:r>
            <a:endParaRPr i="0" sz="53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" name="Google Shape;107;p20" title="A LENDA (7).png"/>
          <p:cNvPicPr preferRelativeResize="0"/>
          <p:nvPr/>
        </p:nvPicPr>
        <p:blipFill rotWithShape="1">
          <a:blip r:embed="rId4">
            <a:alphaModFix/>
          </a:blip>
          <a:srcRect b="12312" l="17995" r="19974" t="13833"/>
          <a:stretch/>
        </p:blipFill>
        <p:spPr>
          <a:xfrm>
            <a:off x="1052275" y="398400"/>
            <a:ext cx="3083424" cy="45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3920225" y="540000"/>
            <a:ext cx="4536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Registros da viagem</a:t>
            </a:r>
            <a:endParaRPr sz="300">
              <a:solidFill>
                <a:schemeClr val="lt1"/>
              </a:solidFill>
            </a:endParaRPr>
          </a:p>
        </p:txBody>
      </p:sp>
      <p:pic>
        <p:nvPicPr>
          <p:cNvPr id="109" name="Google Shape;109;p20" title="qr_code (6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5349" y="2259875"/>
            <a:ext cx="2482501" cy="248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B 36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